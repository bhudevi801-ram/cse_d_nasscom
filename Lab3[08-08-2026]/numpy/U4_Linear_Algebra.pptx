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sq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Algebra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41248" y="3493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language of data, models &amp; transformations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· matrices · tensors · norms · transformations · eigenvectors · rank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U4  ·  Built from Module 1.3  ·  ~2.5 teaching hrs +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s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B begins — the maths under the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learned NumPy in U3 — linear algebra is what those arrays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dataset, weight matrix and embedding is a vector or matrix.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1455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691640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 → tensors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91640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represented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79392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rul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14553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8835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422392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Dot, cross &amp; norms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22392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angle, similarity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0144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11312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matrix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14553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19104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153144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ops &amp; special matrices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153144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Inverse, trace, identity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rota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718304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1691640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1691640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&amp; scaling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279392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480560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eige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718304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88352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5422392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5422392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a map preserves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10144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211312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40" name="Image 6" descr="ic_vsq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718304"/>
            <a:ext cx="420624" cy="4206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119104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33"/>
          <p:cNvSpPr/>
          <p:nvPr/>
        </p:nvSpPr>
        <p:spPr>
          <a:xfrm>
            <a:off x="9153144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basis &amp; similarity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9153144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systems · cosine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Scalars, vectors, matrices &amp; tensors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number to multi-dimensional arrays — the containers that hold every dataset and model weight.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·  Day 2  ·  01 / 07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Scalars, vectors, matrices &amp; tensors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pic>
        <p:nvPicPr>
          <p:cNvPr id="11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2" y="2436876"/>
            <a:ext cx="155448" cy="155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0712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3" name="Text 9"/>
          <p:cNvSpPr/>
          <p:nvPr/>
        </p:nvSpPr>
        <p:spPr>
          <a:xfrm>
            <a:off x="3593592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93592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59359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9359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5, 1]</a:t>
            </a:r>
            <a:endParaRPr lang="en-US" sz="1200" dirty="0"/>
          </a:p>
        </p:txBody>
      </p:sp>
      <p:pic>
        <p:nvPicPr>
          <p:cNvPr id="17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64" y="2436876"/>
            <a:ext cx="155448" cy="1554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2784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9" name="Text 14"/>
          <p:cNvSpPr/>
          <p:nvPr/>
        </p:nvSpPr>
        <p:spPr>
          <a:xfrm>
            <a:off x="6455664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Matrix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55664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5566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[[1,2],[3,4]]</a:t>
            </a:r>
            <a:endParaRPr lang="en-US" sz="1200" dirty="0"/>
          </a:p>
        </p:txBody>
      </p:sp>
      <p:pic>
        <p:nvPicPr>
          <p:cNvPr id="23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2436876"/>
            <a:ext cx="155448" cy="1554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34856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317736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17736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Tensor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317736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matrices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317736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(3,2,2)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3657600"/>
            <a:ext cx="6766560" cy="1188720"/>
          </a:xfrm>
          <a:prstGeom prst="roundRect">
            <a:avLst>
              <a:gd name="adj" fmla="val 461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4944" y="3803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5"/>
          <p:cNvSpPr/>
          <p:nvPr/>
        </p:nvSpPr>
        <p:spPr>
          <a:xfrm>
            <a:off x="841248" y="380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6"/>
          <p:cNvSpPr/>
          <p:nvPr/>
        </p:nvSpPr>
        <p:spPr>
          <a:xfrm>
            <a:off x="987552" y="3803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7"/>
          <p:cNvSpPr/>
          <p:nvPr/>
        </p:nvSpPr>
        <p:spPr>
          <a:xfrm>
            <a:off x="1188720" y="3730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tensor_shapes.py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49808" y="4041648"/>
            <a:ext cx="6364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np.array([2, 5, 1])            # vector, shape (3,)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2], [3, 4]])     # matrix, shape (2, 2)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np.ones((3, 2, 2))             # tensor, shape (3, 2, 2)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498080" y="3657600"/>
            <a:ext cx="4142232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/>
        </p:spPr>
      </p:sp>
      <p:sp>
        <p:nvSpPr>
          <p:cNvPr id="36" name="Text 30"/>
          <p:cNvSpPr/>
          <p:nvPr/>
        </p:nvSpPr>
        <p:spPr>
          <a:xfrm>
            <a:off x="7699248" y="3767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terms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699248" y="407822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= a vector · a dataset = a matrix · a batch of images = a 4-D tensor.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9" name="Shape 3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0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ops in NumPy — addition, transpose and reshape.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.shape attribute is the first thing to check on any ML array.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VECTORS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Dot &amp; cross products, and norms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7" name="Image 1" descr="ic_do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45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956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= Σ aᵢbᵢ — measures alignment; zero means perpendicular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1" name="Image 2" descr="ic_ve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42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2852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a×b — a new vector perpendicular to both (3-D)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456432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5" name="Image 3" descr="ic_rul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6027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438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(length)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01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Σ|aᵢ| · L2 = √Σaᵢ² · L∞ = max|aᵢ|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9" name="Image 4" descr="ic_compas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4988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3342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0160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 = a·b / (‖a‖‖b‖) — angle, not magnitude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09360" y="1664208"/>
            <a:ext cx="5330952" cy="2651760"/>
          </a:xfrm>
          <a:prstGeom prst="roundRect">
            <a:avLst>
              <a:gd name="adj" fmla="val 206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vectors.py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510528" y="2048256"/>
            <a:ext cx="4928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np.array([4, 0, 1])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 b)              # 7  (alignment)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np.cross(a, b)            # perpendicular vec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np.linalg.norm(a)         # L2 length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np.linalg.norm(a, 1)      # L1 length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= a@b/(norm(a)*norm(b))  # similarity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L1 / L2 norms + cosine similarity on 3 vector pairs.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the backbone of search, recommendations and embeddings.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tri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Operations &amp; special matrices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8105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1762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of 1s; A·I = 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166420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3621024" y="18105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 A⁻¹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21024" y="21762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A·A⁻¹ = I (undoes a map)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07238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4381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only on diagonal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56432" y="292608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621024" y="307238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/ Orthogonal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21024" y="34381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 = A   ·   AᵀA = 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1664208"/>
            <a:ext cx="5330952" cy="2670048"/>
          </a:xfrm>
          <a:prstGeom prst="roundRect">
            <a:avLst>
              <a:gd name="adj" fmla="val 205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matrix_ops.py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10528" y="2048256"/>
            <a:ext cx="49286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np.array([[2., 1.], [1., 3.]])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        # matrix multiply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A.T              # transpose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np.linalg.inv(A) # inverse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np.trace(A)      # sum of diagonal = 5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np.allclose(A, A.T)        # symmetric?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np.allclose(Q.T @ Q, np.eye(2))  # orthogonal?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inverse &amp; trace; test whether matrices are symmetric &amp; orthogonal.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is composition: applying one transformation after another.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STRUCTURE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matrices move and describe space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are actions on space. Eigenvectors, rank and basis reveal what those actions really do.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·  Day 2  ·  02 / 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ACTIONS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Transformations: rotation &amp; scaling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4937760" cy="3108960"/>
          </a:xfrm>
          <a:prstGeom prst="roundRect">
            <a:avLst>
              <a:gd name="adj" fmla="val 176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46120"/>
            <a:ext cx="438912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1965960"/>
            <a:ext cx="0" cy="256032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2331720"/>
            <a:ext cx="914400" cy="914400"/>
          </a:xfrm>
          <a:prstGeom prst="rect">
            <a:avLst/>
          </a:prstGeom>
          <a:solidFill>
            <a:srgbClr val="2D6A9F">
              <a:alpha val="45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rot="20100000">
            <a:off x="3108960" y="1965960"/>
            <a:ext cx="1280160" cy="1280160"/>
          </a:xfrm>
          <a:prstGeom prst="rect">
            <a:avLst/>
          </a:prstGeom>
          <a:solidFill>
            <a:srgbClr val="F4B942">
              <a:alpha val="45000"/>
            </a:srgbClr>
          </a:solidFill>
          <a:ln w="19050">
            <a:solidFill>
              <a:srgbClr val="C994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+ rotated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17647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1627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stretch / shrink along axes — diagonal matrix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23134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176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turn vectors by angle θ — rotation matrix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97880" y="2862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2724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/ reflection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skew or mirror space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97880" y="3429000"/>
            <a:ext cx="5742432" cy="13716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44184" y="3575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0488" y="3575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19"/>
          <p:cNvSpPr/>
          <p:nvPr/>
        </p:nvSpPr>
        <p:spPr>
          <a:xfrm>
            <a:off x="6336792" y="3575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35021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rotate.py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99048" y="3813048"/>
            <a:ext cx="5340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np.radians(25)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np.array([[np.cos(theta), -np.sin(theta)],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[np.sin(theta),  np.cos(theta)]])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point   # rotate a point about the origin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 transformations; plot the original vs the transformed shape.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ig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DIRECTIONS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Eigenvalues &amp; eigenvectors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66420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 = λ v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only stretches v — it never rotates 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990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80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 v 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direction a transformation leaves pointing the same way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593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83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λ 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much that direction is stretched (or flipped if negative)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197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087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foundation of PCA, SVD and stability analysis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9088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17190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eigen.py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27648" y="2029968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np.array([[2., 0.],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[0., 3.]])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vals, vecs = np.linalg.eig(A)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   # array([2., 3.])  -&gt; the λ's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  # columns are the eigenvectors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check: A @ v equals lambda * v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 @ vecs[:,0], vals[0]*vecs[:,0])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eigenvalues/vectors of a 2×2 matrix and verify A·v = λ·v.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applied side — PCA, SVD, dimensionality reduction — returns in U11.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qua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MATRIX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Rank, basis &amp; Gaussian elimination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7" name="Image 1" descr="ic_lis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45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956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row-reduce to echelon form to solve Ax = b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1" name="Image 2" descr="ic_matrix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42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2852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independent rows/cols — the 'real' dimensions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456432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5" name="Image 3" descr="ic_ve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6027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438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&amp; span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01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set of vectors that builds the whole space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9" name="Image 4" descr="ic_eige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4988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3342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space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0160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directions a matrix collapses to zero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09360" y="1664208"/>
            <a:ext cx="5330952" cy="2651760"/>
          </a:xfrm>
          <a:prstGeom prst="roundRect">
            <a:avLst>
              <a:gd name="adj" fmla="val 206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solve_system.py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510528" y="2048256"/>
            <a:ext cx="4928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 a 3x3 system  A x = b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np.array([[2,1,-1],[ -3,-1,2],[-2,1,2]])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np.array([8, -11, -3])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np.linalg.solve(A, b)   # [2, 3, -1]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np.linalg.matrix_rank(A)    # 3 (full rank)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rank -&gt; unique solution exists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3×3 system; interpret its rank and null space.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tells you whether a system has one, none, or infinitely many solutions.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vsq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SPACES IN PRACTICE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Similarity &amp; embeddings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images and users all become points in a high-dimensional vector space. Closeness in that space means similarity in meaning.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text/images to vectors that capture meaning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4498848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498848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direction, not length — robust to scale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83296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vectors = most similar items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5204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" y="36667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841248" y="36667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987552" y="36667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359359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embedding_similarity.py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9808" y="3904488"/>
            <a:ext cx="10689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numpy.linalg import norm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cosine(a, b):  return a @ b / (norm(a) * norm(b))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cosine(king, queen)  # ~0.85 (close in meaning)   vs   cosine(king, apple)  # ~0.10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cosine similarity of 2 text embeddings.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as vectors, matrices &amp; tensors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&amp; cosine = alignment / similarity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are transformations of space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are directions a map preserves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tells you a system's solvability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ops: add, transpose, reshape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norms + cosine similarity on vectors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inverse &amp; trace; test symmetric/orthogonal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 transformations &amp; plot them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3×3 system + cosine on text embeddings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STILL DAY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ML — derivatives, chain rule, backprop intuition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(Part 1) — descriptive stats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applied PCA / SVD builds on today's eigenvectors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 weights are matrices, a forward pass is matrix multiplication, and embeddings live in vector space. Linear algebra is the engine under all of it.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U4 — Linear Algebra</dc:title>
  <dc:subject>PptxGenJS Presentation</dc:subject>
  <dc:creator>AI/ML Training</dc:creator>
  <cp:lastModifiedBy>AI/ML Training</cp:lastModifiedBy>
  <cp:revision>1</cp:revision>
  <dcterms:created xsi:type="dcterms:W3CDTF">2026-06-10T12:40:43Z</dcterms:created>
  <dcterms:modified xsi:type="dcterms:W3CDTF">2026-06-10T12:40:43Z</dcterms:modified>
</cp:coreProperties>
</file>