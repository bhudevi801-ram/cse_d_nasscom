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image" Target="../media/image-5-3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1  ·  PHASE A —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Responsible AI Foundations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456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AI that is fair, transparent, accountable &amp; safe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· risks &amp; mitigation · bias · ethical frameworks · GenAI risks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  ·  Built from Module 1.2 + 1.1.6 (concepts)  ·  Day 1 · Phase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responsible AI matters from day one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decisions that affect real people. Getting the principles right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build means fewer harms later. This unit frames the ethics; hands-on fairness &amp; explainability return in U20.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· transparency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944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· misuse · hallucination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230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· sample · representation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516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7 · IEEE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magnif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risks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9802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· privacy · explainability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RULES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Principles &amp; risks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trustworthy AI looks like — and the risks responsible teams plan for from the start.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Foundations · Day 1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AI LOOKS LIKE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Principles of Responsible AI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048256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2128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1920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64208" y="23042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groups equitably; avoids discrimination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99632" y="16642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6455664" y="2048256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2128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920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0" y="23042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can be understood and explained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28269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3666744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3133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64208" y="3538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64208" y="39227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ownership; humans stay responsible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99632" y="328269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6455664" y="3666744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83133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538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Safety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315200" y="39227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data; avoids foreseeable harm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7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principle to a real-world use case.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principles run through every framework — EU, IEEE, IBM, OECD.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WHAT CAN GO WRONG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Trustworthy AI: risks &amp; mitigation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837944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2938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642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566160" y="166420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hijacks the model</a:t>
            </a:r>
            <a:endParaRPr lang="en-US" sz="120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3852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1000" y="16642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sandbox inputs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248716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14" name="Shape 9"/>
          <p:cNvSpPr/>
          <p:nvPr/>
        </p:nvSpPr>
        <p:spPr>
          <a:xfrm>
            <a:off x="713232" y="2660904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5234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48716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66160" y="248716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used for harm</a:t>
            </a:r>
            <a:endParaRPr lang="en-US" sz="1200" dirty="0"/>
          </a:p>
        </p:txBody>
      </p:sp>
      <p:pic>
        <p:nvPicPr>
          <p:cNvPr id="18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76148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01000" y="24871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policies &amp; guardrails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331012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21" name="Shape 14"/>
          <p:cNvSpPr/>
          <p:nvPr/>
        </p:nvSpPr>
        <p:spPr>
          <a:xfrm>
            <a:off x="713232" y="3483864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5" descr="ic_magnif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575304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33101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3566160" y="331012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but false output</a:t>
            </a:r>
            <a:endParaRPr lang="en-US" sz="1200" dirty="0"/>
          </a:p>
        </p:txBody>
      </p:sp>
      <p:pic>
        <p:nvPicPr>
          <p:cNvPr id="25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584448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001000" y="33101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answers, cite sources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48640" y="413308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2F5F9"/>
          </a:solidFill>
          <a:ln/>
        </p:spPr>
      </p:sp>
      <p:sp>
        <p:nvSpPr>
          <p:cNvPr id="28" name="Shape 19"/>
          <p:cNvSpPr/>
          <p:nvPr/>
        </p:nvSpPr>
        <p:spPr>
          <a:xfrm>
            <a:off x="713232" y="4306824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7" descr="ic_lo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39826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234440" y="41330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3566160" y="41330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exposed in output</a:t>
            </a:r>
            <a:endParaRPr lang="en-US" sz="1200" dirty="0"/>
          </a:p>
        </p:txBody>
      </p:sp>
      <p:pic>
        <p:nvPicPr>
          <p:cNvPr id="32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4407408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001000" y="413308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PII, limit context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5" name="Shape 2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9" descr="ic_flas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use case, list 1 risk and 1 matching mitigation.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the OWASP Top 10 for LLM applications catalogues these risks in depth.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40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 PRACTICE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Bias, frameworks &amp; GenAI risks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unfairness creeps in, the standards that guide us, and the risks unique to generative AI.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Foundations · Day 1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UNFAIRNESS CREEPS 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bias in AI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13969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7889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bias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315468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doesn't represent reality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685032"/>
            <a:ext cx="303580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3776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model trained mostly on one skin tone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15968" y="169164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90288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13969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0288" y="27889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bias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590288" y="315468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themselves carry prejudice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90288" y="3685032"/>
            <a:ext cx="303580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90288" y="3776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hiring decisions encode old bias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83296" y="169164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8357616" y="19659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13969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57616" y="27889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bias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357616" y="315468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groups are under-represented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357616" y="3685032"/>
            <a:ext cx="303580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357616" y="3776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dialects perform worse in speech AI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8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9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model's predictions on a skewed dataset; run a simple bias check.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usually comes from the data, not the algorithm — so it starts upstream of the model.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nif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MEASURABLE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Identifying &amp; measuring bias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groups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 accuracy / error rates by age, gender, region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gaps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large gap between groups signals unfair treatment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demographic parity, equal opportunity (intro)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mitigate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rebalance data, reweight, or adjust thresholds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bias_check.py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accuracy reveals disparities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 in df['group'].unique():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= df[df['group'] == g]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(sub['pred'] == sub['true']).mean()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print(g, round(acc, 2))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A: 0.92   group B: 0.71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21-point gap = a fairness red flag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bias check on sample model output across two groups.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hands-on (AIF360, SHAP, LIME) returns in U20 once we have a trained model.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THAT GUIDE US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Ethical frameworks: EU &amp; IEEE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7 requirements for Trustworthy 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agency &amp; oversight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robustness &amp; safety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governance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non-discrimination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&amp; environmental wellbeing</a:t>
            </a:r>
            <a:endParaRPr lang="en-US" sz="12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6420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8288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— Ethically Aligned Design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human rights, wellbeing, accountability and transparency at the centre of system design.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9632" y="3246120"/>
            <a:ext cx="5440680" cy="1435608"/>
          </a:xfrm>
          <a:prstGeom prst="roundRect">
            <a:avLst>
              <a:gd name="adj" fmla="val 5732"/>
            </a:avLst>
          </a:prstGeom>
          <a:solidFill>
            <a:srgbClr val="FBF1D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3401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(health AI)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37490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model must be explainable to clinicians, validated for safety, and keep a human in the loop for the final decision.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6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7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ethical principle to an applied domain (e.g. health, finance, hiring).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UNIQUE TO GENERATIVE AI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GenAI risks &amp; a look at explainability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20240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214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980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13232" y="3145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facts stated confidently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46704" y="166420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20240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2140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7980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amplification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11296" y="3145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prejudices get repeated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44768" y="166420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20240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21408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7980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copyright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09360" y="3145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may copy protected work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42832" y="166420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20240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21408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7980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107424" y="3145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 personal data can leak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37490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77240" y="4023360"/>
            <a:ext cx="603504" cy="603504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5" descr="ic_magnif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028" y="4159148"/>
            <a:ext cx="331927" cy="33192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37490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coming in U20: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SHAP &amp; LIME open the black box, showing which inputs drove a prediction. We preview the idea now; the hands-on comes once we have a trained classifier.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6" descr="ic_flas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2 risks + matching mitigations for a GenAI scenario.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transparency, accountability, safety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risks: injection, misuse, leakage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usually starts in the data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&amp; IEEE frameworks guide good practice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adds IP, privacy &amp; hallucination risks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RA principle to a use case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1 risk + 1 mitigation per use case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bias check on sample output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principles to applied domains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2 GenAI risks + mitigations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(Part 1) — still Day 1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38328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979408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Fairness &amp; Explainability — hands-on SHAP/LIME later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isn't a final checkbox — it's a lens you apply at every step, from data collection to deployment.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· Responsible AI Foundations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2026-06-10T13:13:54Z</dcterms:created>
  <dcterms:modified xsi:type="dcterms:W3CDTF">2026-06-10T13:13:54Z</dcterms:modified>
</cp:coreProperties>
</file>