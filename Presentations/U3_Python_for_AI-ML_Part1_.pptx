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1051560"/>
            <a:ext cx="3017520" cy="3017520"/>
          </a:xfrm>
          <a:prstGeom prst="ellipse">
            <a:avLst/>
          </a:prstGeom>
          <a:solidFill>
            <a:srgbClr val="152C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7830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U3 · DAY 1 · FOUNDATIONS PHASE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20" y="146304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AI / ML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548640" y="27432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Core Python Foundations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34290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functional features · robust code · standard library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45034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Programme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73152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234440"/>
            <a:ext cx="457200" cy="45720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refresher &amp; data structures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71600" y="14904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loops, functions — and list / tuple / dict / set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883664"/>
            <a:ext cx="8046720" cy="73152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020824"/>
            <a:ext cx="457200" cy="45720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97510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programming &amp; features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71600" y="227685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Comprehensions, map/filter/reduce, generators, decorators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670048"/>
            <a:ext cx="8046720" cy="73152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2807208"/>
            <a:ext cx="457200" cy="45720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76148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coding practices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371600" y="30632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code, error handling, unit tests, OOP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456432"/>
            <a:ext cx="8046720" cy="73152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3593592"/>
            <a:ext cx="457200" cy="45720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547872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libraries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371600" y="384962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· itertools · functools · math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3342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(Day 2): </a:t>
            </a:r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· Pandas · Matplotlib / Seaborn · scikit-learn</a:t>
            </a:r>
            <a:endParaRPr lang="en-US" sz="11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9452"/>
            <a:ext cx="182880" cy="1828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76656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AI/ML · Part 1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321040" y="47320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5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6126480" y="1691640"/>
            <a:ext cx="1554480" cy="155448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13055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21945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Refresher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 Structures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91440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essentials every ML script relies on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loops &amp; functions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3794760" cy="3246120"/>
          </a:xfrm>
          <a:prstGeom prst="roundRect">
            <a:avLst>
              <a:gd name="adj" fmla="val 1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40817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" y="1920240"/>
            <a:ext cx="33192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typed — no type declarations needed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(4 spaces) defines code blocks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use def; support default &amp; keyword args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an object you can pass around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0" y="1207008"/>
            <a:ext cx="4114800" cy="3246120"/>
          </a:xfrm>
          <a:prstGeom prst="roundRect">
            <a:avLst>
              <a:gd name="adj" fmla="val 169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F17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73168" y="138988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4974336" y="138988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5175504" y="138988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4773168" y="1664208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dynamically</a:t>
            </a:r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"model"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square_all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square_all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9452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AI/ML · Part 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321040" y="47320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structures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4114800" cy="1170432"/>
          </a:xfrm>
          <a:prstGeom prst="roundRect">
            <a:avLst>
              <a:gd name="adj" fmla="val 39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344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 </a:t>
            </a:r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… 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· mutable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9842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Sequences, feature rows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207008"/>
            <a:ext cx="4114800" cy="1170432"/>
          </a:xfrm>
          <a:prstGeom prst="roundRect">
            <a:avLst>
              <a:gd name="adj" fmla="val 39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344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 </a:t>
            </a:r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… 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0060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· immutable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9842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records, coordinates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4114800" cy="1170432"/>
          </a:xfrm>
          <a:prstGeom prst="roundRect">
            <a:avLst>
              <a:gd name="adj" fmla="val 39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624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 </a:t>
            </a:r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{k: v}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→ value mapping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2644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Configs, label maps, counts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487168"/>
            <a:ext cx="4114800" cy="1170432"/>
          </a:xfrm>
          <a:prstGeom prst="roundRect">
            <a:avLst>
              <a:gd name="adj" fmla="val 39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2624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 </a:t>
            </a:r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… }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0060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· unordered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32644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De-duplication, membership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822192"/>
            <a:ext cx="8229600" cy="45720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nums=[1,2,3]   point=(10,20)   model={"name":"svm"}   labels={0,1,2}</a:t>
            </a:r>
            <a:endParaRPr lang="en-US" sz="11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9452"/>
            <a:ext cx="182880" cy="1828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76656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AI/ML · Part 1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321040" y="47320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5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6126480" y="1691640"/>
            <a:ext cx="1554480" cy="155448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13055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21945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Programming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Language Features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91440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concise, expressive, memory-efficient code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Comprehensions, map &amp; filter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3794760" cy="3246120"/>
          </a:xfrm>
          <a:prstGeom prst="roundRect">
            <a:avLst>
              <a:gd name="adj" fmla="val 1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40817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" y="1920240"/>
            <a:ext cx="33192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 = concise, readable transforms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applies a function across an iterable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keeps items that pass a test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(functools) folds a sequence to one value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0" y="1207008"/>
            <a:ext cx="4114800" cy="3246120"/>
          </a:xfrm>
          <a:prstGeom prst="roundRect">
            <a:avLst>
              <a:gd name="adj" fmla="val 169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F17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73168" y="138988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4974336" y="138988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5175504" y="138988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4773168" y="1664208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doubled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9452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AI/ML · Part 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321040" y="47320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Iterators &amp; generators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3794760" cy="3246120"/>
          </a:xfrm>
          <a:prstGeom prst="roundRect">
            <a:avLst>
              <a:gd name="adj" fmla="val 1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40817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evaluation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" y="1920240"/>
            <a:ext cx="33192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Iterators yield items one at a time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 (yield) compute on demand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memory footprint — no full list in RAM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large datasets &amp; streaming data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0" y="1207008"/>
            <a:ext cx="4114800" cy="3246120"/>
          </a:xfrm>
          <a:prstGeom prst="roundRect">
            <a:avLst>
              <a:gd name="adj" fmla="val 169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F17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73168" y="138988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4974336" y="138988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5175504" y="138988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4773168" y="1664208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lazy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1000000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9452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AI/ML · Part 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321040" y="47320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3794760" cy="3246120"/>
          </a:xfrm>
          <a:prstGeom prst="roundRect">
            <a:avLst>
              <a:gd name="adj" fmla="val 1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40817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Wrap, don't rewrite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" y="1920240"/>
            <a:ext cx="33192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decorator wraps a function to add behaviour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 stays untouched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ML for timing, logging &amp; caching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with the @name syntax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0" y="1207008"/>
            <a:ext cx="4114800" cy="3246120"/>
          </a:xfrm>
          <a:prstGeom prst="roundRect">
            <a:avLst>
              <a:gd name="adj" fmla="val 169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F17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73168" y="138988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4974336" y="138988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5175504" y="138988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4773168" y="1664208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wrapper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"calling"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__name__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wrapper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1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9452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AI/ML · Part 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321040" y="47320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5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6126480" y="1691640"/>
            <a:ext cx="1554480" cy="155448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13055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21945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Coding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91440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scripts that run to code that survives production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 &amp; error handling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3794760" cy="3246120"/>
          </a:xfrm>
          <a:prstGeom prst="roundRect">
            <a:avLst>
              <a:gd name="adj" fmla="val 1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40817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 last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" y="1920240"/>
            <a:ext cx="33192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logic into small, reusable functions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risky operations with try / except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always runs — clean up here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loudly with clear messages, not silently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0" y="1207008"/>
            <a:ext cx="4114800" cy="3246120"/>
          </a:xfrm>
          <a:prstGeom prst="roundRect">
            <a:avLst>
              <a:gd name="adj" fmla="val 169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F17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73168" y="138988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4974336" y="138988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5175504" y="138988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4773168" y="1664208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FileNotFoundError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"missing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"done"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9452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AI/ML · Part 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321040" y="47320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3794760" cy="3246120"/>
          </a:xfrm>
          <a:prstGeom prst="roundRect">
            <a:avLst>
              <a:gd name="adj" fmla="val 1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40817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bugs early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" y="1920240"/>
            <a:ext cx="33192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verify each unit of behaviour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unittest ships with Python; pytest is popular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them on every change to catch regressions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to refactor without fear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0" y="1207008"/>
            <a:ext cx="4114800" cy="3246120"/>
          </a:xfrm>
          <a:prstGeom prst="roundRect">
            <a:avLst>
              <a:gd name="adj" fmla="val 169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F17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73168" y="138988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4974336" y="138988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5175504" y="138988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4773168" y="1664208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unittest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TestSquare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unittest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TestCase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test_square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assertEqual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__name__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"__main__"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unittest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9452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AI/ML · Part 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321040" y="47320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basics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3794760" cy="3246120"/>
          </a:xfrm>
          <a:prstGeom prst="roundRect">
            <a:avLst>
              <a:gd name="adj" fmla="val 1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40817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data + behaviour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" y="1920240"/>
            <a:ext cx="33192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group state and the methods on it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sets up the object's state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act on self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models use this fit / predict shape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0" y="1207008"/>
            <a:ext cx="4114800" cy="3246120"/>
          </a:xfrm>
          <a:prstGeom prst="roundRect">
            <a:avLst>
              <a:gd name="adj" fmla="val 169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F17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73168" y="138988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4974336" y="138988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5175504" y="138988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4773168" y="1664208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trained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endParaRPr lang="en-US" sz="11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9452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AI/ML · Part 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321040" y="47320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5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6126480" y="1691640"/>
            <a:ext cx="1554480" cy="155448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13055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21945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Libraries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91440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included — reach for the standard library first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library toolkit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749808"/>
          </a:xfrm>
          <a:prstGeom prst="roundRect">
            <a:avLst>
              <a:gd name="adj" fmla="val 609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801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5910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· defaultdict · namedtuple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4114800" cy="749808"/>
          </a:xfrm>
          <a:prstGeom prst="roundRect">
            <a:avLst>
              <a:gd name="adj" fmla="val 609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12801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itertools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00600" y="15910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· groupby · combinations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4114800" cy="749808"/>
          </a:xfrm>
          <a:prstGeom prst="roundRect">
            <a:avLst>
              <a:gd name="adj" fmla="val 609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1214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functools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432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· lru_cache · partial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2029968"/>
            <a:ext cx="4114800" cy="749808"/>
          </a:xfrm>
          <a:prstGeom prst="roundRect">
            <a:avLst>
              <a:gd name="adj" fmla="val 609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21214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2432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sqrt · log · factorial · pi, 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944368"/>
            <a:ext cx="8229600" cy="1517904"/>
          </a:xfrm>
          <a:prstGeom prst="roundRect">
            <a:avLst>
              <a:gd name="adj" fmla="val 36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0F172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" y="31272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5"/>
          <p:cNvSpPr/>
          <p:nvPr/>
        </p:nvSpPr>
        <p:spPr>
          <a:xfrm>
            <a:off x="859536" y="31272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1060704" y="312724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401568"/>
            <a:ext cx="78638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'b'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algn="l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functools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lru_cache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lru_cache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9452"/>
            <a:ext cx="182880" cy="1828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76656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AI/ML · Part 1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321040" y="47320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40080" cy="64008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3949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0" y="502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Jupyter / Google Colab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152C49"/>
          </a:solidFill>
          <a:ln/>
          <a:effectLst>
            <a:outerShdw sx="100000" sy="100000" kx="0" ky="0" algn="bl" rotWithShape="0" blurRad="114300" dist="38100" dir="5400000">
              <a:srgbClr val="0F172A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527048"/>
            <a:ext cx="502920" cy="5029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71600" y="14996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865376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problems using dicts &amp; sets; implement nested loops.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17720" y="1298448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152C49"/>
          </a:solidFill>
          <a:ln/>
          <a:effectLst>
            <a:outerShdw sx="100000" sy="100000" kx="0" ky="0" algn="bl" rotWithShape="0" blurRad="114300" dist="38100" dir="5400000">
              <a:srgbClr val="0F172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527048"/>
            <a:ext cx="502920" cy="5029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0" y="14996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 &amp; decorators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486400" y="1865376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generator for streaming data + a class decorator.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" y="2898648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152C49"/>
          </a:solidFill>
          <a:ln/>
          <a:effectLst>
            <a:outerShdw sx="100000" sy="100000" kx="0" ky="0" algn="bl" rotWithShape="0" blurRad="114300" dist="38100" dir="5400000">
              <a:srgbClr val="0F172A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31520" y="3127248"/>
            <a:ext cx="502920" cy="5029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371600" y="30998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&amp; test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371600" y="3465576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procedural script into a class and unit-test it.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617720" y="2898648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152C49"/>
          </a:solidFill>
          <a:ln/>
          <a:effectLst>
            <a:outerShdw sx="100000" sy="100000" kx="0" ky="0" algn="bl" rotWithShape="0" blurRad="114300" dist="38100" dir="5400000">
              <a:srgbClr val="0F172A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46320" y="3127248"/>
            <a:ext cx="502920" cy="5029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3" name="Text 20"/>
          <p:cNvSpPr/>
          <p:nvPr/>
        </p:nvSpPr>
        <p:spPr>
          <a:xfrm>
            <a:off x="484632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486400" y="30998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library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5486400" y="3465576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script using 2 stdlib tools to solve a real problem.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6245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0759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dynamically typed; indentation defines structure.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20824"/>
            <a:ext cx="310896" cy="3108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1965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 &amp; generators give concise, memory-efficient code.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79192"/>
            <a:ext cx="310896" cy="3108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560" y="26243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 add behaviour without touching core logic.</a:t>
            </a:r>
            <a:endParaRPr lang="en-US" sz="15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337560"/>
            <a:ext cx="310896" cy="31089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51560" y="328269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functions, tests &amp; OOP make ML code production-ready.</a:t>
            </a:r>
            <a:endParaRPr lang="en-US" sz="15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995928"/>
            <a:ext cx="310896" cy="31089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51560" y="39410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library already solves a lot — reach for it first.</a:t>
            </a:r>
            <a:endParaRPr lang="en-US" sz="15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759452"/>
            <a:ext cx="182880" cy="18288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76656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AI/ML · Part 1</a:t>
            </a:r>
            <a:endParaRPr lang="en-US" sz="900" dirty="0"/>
          </a:p>
        </p:txBody>
      </p:sp>
      <p:sp>
        <p:nvSpPr>
          <p:cNvPr id="15" name="Text 7"/>
          <p:cNvSpPr/>
          <p:nvPr/>
        </p:nvSpPr>
        <p:spPr>
          <a:xfrm>
            <a:off x="8321040" y="47320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what's next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Official Tutorial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docs.python.org/3/tutorial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RealPython — Generators &amp; Decorators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realpython.com/introduction-to-python-generators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unittest documentation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docs.python.org/3/library/unittest.html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3154680"/>
          </a:xfrm>
          <a:prstGeom prst="roundRect">
            <a:avLst>
              <a:gd name="adj" fmla="val 1739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14300" dist="38100" dir="5400000">
              <a:srgbClr val="0F172A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 — Part 2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074920" y="201168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arrays &amp; linear-algebra ops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DataFrames &amp; grouping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 — visualization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the ML workflow API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interfaces &amp; architecture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5945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6656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AI/ML · Part 1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321040" y="47320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AI/ML — Part 1</dc:title>
  <dc:subject>PptxGenJS Presentation</dc:subject>
  <dc:creator>AI/ML Training Programme</dc:creator>
  <cp:lastModifiedBy>AI/ML Training Programme</cp:lastModifiedBy>
  <cp:revision>1</cp:revision>
  <dcterms:created xsi:type="dcterms:W3CDTF">2026-06-10T11:20:10Z</dcterms:created>
  <dcterms:modified xsi:type="dcterms:W3CDTF">2026-06-10T11:20:10Z</dcterms:modified>
</cp:coreProperties>
</file>