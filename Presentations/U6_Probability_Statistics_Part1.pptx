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2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spPr>
            <a:solidFill>
              <a:srgbClr val="2D6A9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2</c:v>
                </c:pt>
                <c:pt idx="1">
                  <c:v>9</c:v>
                </c:pt>
                <c:pt idx="2">
                  <c:v>14</c:v>
                </c:pt>
                <c:pt idx="3">
                  <c:v>11</c:v>
                </c:pt>
                <c:pt idx="4">
                  <c:v>7</c:v>
                </c:pt>
                <c:pt idx="5">
                  <c:v>4</c:v>
                </c:pt>
                <c:pt idx="6">
                  <c:v>2</c:v>
                </c:pt>
                <c:pt idx="7">
                  <c:v>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C6B7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C6B7A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2F5F9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Y</c:v>
                </c:pt>
              </c:strCache>
            </c:strRef>
          </c:tx>
          <c:spPr>
            <a:solidFill>
              <a:srgbClr val="F4B942"/>
            </a:solidFill>
            <a:ln>
              <a:noFill/>
            </a:ln>
            <a:effectLst/>
          </c:spPr>
          <c:marker>
            <c:symbol val="circle"/>
            <c:size val="7"/>
            <c:spPr>
              <a:solidFill>
                <a:srgbClr val="F4B942"/>
              </a:solidFill>
              <a:ln w="9525" cap="flat">
                <a:solidFill>
                  <a:srgbClr val="F4B942"/>
                </a:solidFill>
                <a:prstDash val="solid"/>
                <a:round/>
              </a:ln>
              <a:effectLst/>
            </c:spPr>
          </c:marker>
          <c:xVal>
            <c:numRef>
              <c:f>Sheet1!$A$2:$A$11</c:f>
              <c:numCache>
                <c:formatCode>General</c:formatCode>
                <c:ptCount val="1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</c:numCache>
            </c:numRef>
          </c:xVal>
          <c:yVal>
            <c:numRef>
              <c:f>Sheet1!$B$2:$B$11</c:f>
              <c:numCache>
                <c:formatCode>General</c:formatCode>
                <c:ptCount val="10"/>
                <c:pt idx="0">
                  <c:v>2.1</c:v>
                </c:pt>
                <c:pt idx="1">
                  <c:v>2.9</c:v>
                </c:pt>
                <c:pt idx="2">
                  <c:v>3.6</c:v>
                </c:pt>
                <c:pt idx="3">
                  <c:v>5</c:v>
                </c:pt>
                <c:pt idx="4">
                  <c:v>5.4</c:v>
                </c:pt>
                <c:pt idx="5">
                  <c:v>6.7</c:v>
                </c:pt>
                <c:pt idx="6">
                  <c:v>7.1</c:v>
                </c:pt>
                <c:pt idx="7">
                  <c:v>8.3</c:v>
                </c:pt>
                <c:pt idx="8">
                  <c:v>8.9</c:v>
                </c:pt>
                <c:pt idx="9">
                  <c:v>10.2</c:v>
                </c:pt>
              </c:numCache>
            </c:numRef>
          </c:yVal>
          <c:smooth val="0"/>
        </c:ser>
        <c:dLbls>
          <c:numFmt formatCode="General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1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C6B7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val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C6B7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2F5F9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image-5-1.png"/><Relationship Id="rId3" Type="http://schemas.openxmlformats.org/officeDocument/2006/relationships/image" Target="../media/image-5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2.xml"/><Relationship Id="rId1" Type="http://schemas.openxmlformats.org/officeDocument/2006/relationships/image" Target="../media/image-9-1.png"/><Relationship Id="rId3" Type="http://schemas.openxmlformats.org/officeDocument/2006/relationships/image" Target="../media/image-9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2.png"/><Relationship Id="rId4" Type="http://schemas.openxmlformats.org/officeDocument/2006/relationships/image" Target="../media/image-10-2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2.png"/><Relationship Id="rId4" Type="http://schemas.openxmlformats.org/officeDocument/2006/relationships/image" Target="../media/image-11-2.png"/><Relationship Id="rId5" Type="http://schemas.openxmlformats.org/officeDocument/2006/relationships/image" Target="../media/image-1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6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320000">
            <a:off x="8686800" y="-1097280"/>
            <a:ext cx="5486400" cy="5486400"/>
          </a:xfrm>
          <a:prstGeom prst="roundRect">
            <a:avLst>
              <a:gd name="adj" fmla="val 3333"/>
            </a:avLst>
          </a:prstGeom>
          <a:solidFill>
            <a:srgbClr val="2D6A9F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1320000">
            <a:off x="9509760" y="2377440"/>
            <a:ext cx="5486400" cy="5486400"/>
          </a:xfrm>
          <a:prstGeom prst="roundRect">
            <a:avLst>
              <a:gd name="adj" fmla="val 3333"/>
            </a:avLst>
          </a:prstGeom>
          <a:solidFill>
            <a:srgbClr val="3AAFA9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68680" y="868680"/>
            <a:ext cx="914400" cy="914400"/>
          </a:xfrm>
          <a:prstGeom prst="ellipse">
            <a:avLst/>
          </a:prstGeom>
          <a:solidFill>
            <a:srgbClr val="F4B942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5" name="Image 0" descr="ic_cha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109728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96112" y="20116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spc="200" kern="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ML TRAINING  ·  DAY 2  ·  PHASE B — MATHEMATICAL FOUNDATIONS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822960" y="2432304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Probability &amp; Statistics</a:t>
            </a:r>
            <a:endParaRPr lang="en-US" sz="5000" dirty="0"/>
          </a:p>
        </p:txBody>
      </p:sp>
      <p:sp>
        <p:nvSpPr>
          <p:cNvPr id="8" name="Text 5"/>
          <p:cNvSpPr/>
          <p:nvPr/>
        </p:nvSpPr>
        <p:spPr>
          <a:xfrm>
            <a:off x="841248" y="3346704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4B94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Part 1 — </a:t>
            </a:r>
            <a:pPr algn="l" indent="0" marL="0">
              <a:buNone/>
            </a:pPr>
            <a:r>
              <a:rPr lang="en-US" sz="2700" dirty="0">
                <a:solidFill>
                  <a:srgbClr val="DCE7F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Descriptive Statistics</a:t>
            </a:r>
            <a:endParaRPr lang="en-US" sz="2700" dirty="0"/>
          </a:p>
        </p:txBody>
      </p:sp>
      <p:sp>
        <p:nvSpPr>
          <p:cNvPr id="9" name="Text 6"/>
          <p:cNvSpPr/>
          <p:nvPr/>
        </p:nvSpPr>
        <p:spPr>
          <a:xfrm>
            <a:off x="868680" y="41148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dirty="0">
                <a:solidFill>
                  <a:srgbClr val="AF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tendency · spread · shape · correlation · summarizing data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868680" y="612648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7E9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U6  ·  Built from Module 1.4 + 2.2  ·  Day 2 portion (continues on Day 3)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clip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ORIENTATION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424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Why statistics? Know your data before you model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572768"/>
            <a:ext cx="11091672" cy="914400"/>
          </a:xfrm>
          <a:prstGeom prst="roundRect">
            <a:avLst>
              <a:gd name="adj" fmla="val 8000"/>
            </a:avLst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22960" y="1572768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big idea:  </a:t>
            </a:r>
            <a:pPr algn="l"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DC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training any model you must understand the data. </a:t>
            </a:r>
            <a:pPr algn="l" indent="0" marL="0">
              <a:lnSpc>
                <a:spcPct val="105000"/>
              </a:lnSpc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Descriptive statistics</a:t>
            </a:r>
            <a:pPr algn="l"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DC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summarise a dataset in a few numbers — its centre, spread, shape and relationships.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48640" y="2743200"/>
            <a:ext cx="2121408" cy="233172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1225296" y="3035808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10" name="Image 1" descr="ic_list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8176" y="3236976"/>
            <a:ext cx="402336" cy="40233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94944" y="28529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640080" y="3968496"/>
            <a:ext cx="1938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variables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658368" y="4443984"/>
            <a:ext cx="1901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categorical vs numerical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2834640" y="2743200"/>
            <a:ext cx="2121408" cy="233172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3511296" y="3035808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16" name="Image 2" descr="ic_balance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94176" y="3236976"/>
            <a:ext cx="402336" cy="40233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2980944" y="28529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2926080" y="3968496"/>
            <a:ext cx="1938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tendency</a:t>
            </a:r>
            <a:endParaRPr lang="en-US" sz="1350" dirty="0"/>
          </a:p>
        </p:txBody>
      </p:sp>
      <p:sp>
        <p:nvSpPr>
          <p:cNvPr id="19" name="Text 14"/>
          <p:cNvSpPr/>
          <p:nvPr/>
        </p:nvSpPr>
        <p:spPr>
          <a:xfrm>
            <a:off x="2944368" y="4443984"/>
            <a:ext cx="1901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· median · mode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5120640" y="2743200"/>
            <a:ext cx="2121408" cy="233172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5797296" y="3035808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22" name="Image 3" descr="ic_spread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0176" y="3236976"/>
            <a:ext cx="402336" cy="402336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266944" y="28529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5212080" y="3968496"/>
            <a:ext cx="1938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</a:t>
            </a:r>
            <a:endParaRPr lang="en-US" sz="1350" dirty="0"/>
          </a:p>
        </p:txBody>
      </p:sp>
      <p:sp>
        <p:nvSpPr>
          <p:cNvPr id="25" name="Text 19"/>
          <p:cNvSpPr/>
          <p:nvPr/>
        </p:nvSpPr>
        <p:spPr>
          <a:xfrm>
            <a:off x="5230368" y="4443984"/>
            <a:ext cx="1901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 · variance · std · IQR</a:t>
            </a:r>
            <a:endParaRPr lang="en-US" sz="1050" dirty="0"/>
          </a:p>
        </p:txBody>
      </p:sp>
      <p:sp>
        <p:nvSpPr>
          <p:cNvPr id="26" name="Shape 20"/>
          <p:cNvSpPr/>
          <p:nvPr/>
        </p:nvSpPr>
        <p:spPr>
          <a:xfrm>
            <a:off x="7406640" y="2743200"/>
            <a:ext cx="2121408" cy="233172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8083296" y="3035808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28" name="Image 4" descr="ic_area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66176" y="3236976"/>
            <a:ext cx="402336" cy="402336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7552944" y="28529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30" name="Text 23"/>
          <p:cNvSpPr/>
          <p:nvPr/>
        </p:nvSpPr>
        <p:spPr>
          <a:xfrm>
            <a:off x="7498080" y="3968496"/>
            <a:ext cx="1938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Shape</a:t>
            </a:r>
            <a:endParaRPr lang="en-US" sz="1350" dirty="0"/>
          </a:p>
        </p:txBody>
      </p:sp>
      <p:sp>
        <p:nvSpPr>
          <p:cNvPr id="31" name="Text 24"/>
          <p:cNvSpPr/>
          <p:nvPr/>
        </p:nvSpPr>
        <p:spPr>
          <a:xfrm>
            <a:off x="7516368" y="4443984"/>
            <a:ext cx="1901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skew · quartiles · box plot</a:t>
            </a:r>
            <a:endParaRPr lang="en-US" sz="1050" dirty="0"/>
          </a:p>
        </p:txBody>
      </p:sp>
      <p:sp>
        <p:nvSpPr>
          <p:cNvPr id="32" name="Shape 25"/>
          <p:cNvSpPr/>
          <p:nvPr/>
        </p:nvSpPr>
        <p:spPr>
          <a:xfrm>
            <a:off x="9692640" y="2743200"/>
            <a:ext cx="2121408" cy="233172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33" name="Shape 26"/>
          <p:cNvSpPr/>
          <p:nvPr/>
        </p:nvSpPr>
        <p:spPr>
          <a:xfrm>
            <a:off x="10369296" y="3035808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34" name="Image 5" descr="ic_scatter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52176" y="3236976"/>
            <a:ext cx="402336" cy="402336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9838944" y="28529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6" name="Text 28"/>
          <p:cNvSpPr/>
          <p:nvPr/>
        </p:nvSpPr>
        <p:spPr>
          <a:xfrm>
            <a:off x="9784080" y="3968496"/>
            <a:ext cx="1938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</a:t>
            </a:r>
            <a:endParaRPr lang="en-US" sz="1350" dirty="0"/>
          </a:p>
        </p:txBody>
      </p:sp>
      <p:sp>
        <p:nvSpPr>
          <p:cNvPr id="37" name="Text 29"/>
          <p:cNvSpPr/>
          <p:nvPr/>
        </p:nvSpPr>
        <p:spPr>
          <a:xfrm>
            <a:off x="9802368" y="4443984"/>
            <a:ext cx="1901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variables move together</a:t>
            </a:r>
            <a:endParaRPr lang="en-US" sz="1050" dirty="0"/>
          </a:p>
        </p:txBody>
      </p:sp>
      <p:sp>
        <p:nvSpPr>
          <p:cNvPr id="38" name="Text 30"/>
          <p:cNvSpPr/>
          <p:nvPr/>
        </p:nvSpPr>
        <p:spPr>
          <a:xfrm>
            <a:off x="548640" y="5321808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(Day 3) continues with probability, Bayes' theorem, distributions and information theory (entropy / KL / mutual information).</a:t>
            </a:r>
            <a:endParaRPr lang="en-US" sz="1150" dirty="0"/>
          </a:p>
        </p:txBody>
      </p:sp>
      <p:sp>
        <p:nvSpPr>
          <p:cNvPr id="39" name="Text 31"/>
          <p:cNvSpPr/>
          <p:nvPr/>
        </p:nvSpPr>
        <p:spPr>
          <a:xfrm>
            <a:off x="548640" y="643737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U6 · Probability &amp; Statistics (Part 1)</a:t>
            </a:r>
            <a:endParaRPr lang="en-US" sz="950" dirty="0"/>
          </a:p>
        </p:txBody>
      </p:sp>
      <p:sp>
        <p:nvSpPr>
          <p:cNvPr id="40" name="Text 32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626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09760" y="914400"/>
            <a:ext cx="228600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0" b="1" dirty="0">
                <a:solidFill>
                  <a:srgbClr val="1F3656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</a:t>
            </a:r>
            <a:endParaRPr lang="en-US" sz="24000" dirty="0"/>
          </a:p>
        </p:txBody>
      </p:sp>
      <p:sp>
        <p:nvSpPr>
          <p:cNvPr id="3" name="Shape 1"/>
          <p:cNvSpPr/>
          <p:nvPr/>
        </p:nvSpPr>
        <p:spPr>
          <a:xfrm>
            <a:off x="822960" y="1783080"/>
            <a:ext cx="1051560" cy="1051560"/>
          </a:xfrm>
          <a:prstGeom prst="ellipse">
            <a:avLst/>
          </a:prstGeom>
          <a:solidFill>
            <a:srgbClr val="F4B942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4" name="Image 0" descr="ic_balanc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5850" y="2045970"/>
            <a:ext cx="525780" cy="5257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148840" y="184708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300" kern="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CENTRE OF YOUR DATA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2121408" y="2231136"/>
            <a:ext cx="6766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Types of data &amp; central tendency</a:t>
            </a:r>
            <a:endParaRPr lang="en-US" sz="3800" dirty="0"/>
          </a:p>
        </p:txBody>
      </p:sp>
      <p:sp>
        <p:nvSpPr>
          <p:cNvPr id="7" name="Text 4"/>
          <p:cNvSpPr/>
          <p:nvPr/>
        </p:nvSpPr>
        <p:spPr>
          <a:xfrm>
            <a:off x="2148840" y="4160520"/>
            <a:ext cx="6492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AF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classify your variables, then summarise where the data sits — its typical value.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22960" y="6263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E8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Probability &amp; Statistics · Part 1 · 01 / 06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list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424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Types of data &amp; variables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691640"/>
            <a:ext cx="5440680" cy="2743200"/>
          </a:xfrm>
          <a:prstGeom prst="roundRect">
            <a:avLst>
              <a:gd name="adj" fmla="val 3000"/>
            </a:avLst>
          </a:prstGeom>
          <a:solidFill>
            <a:srgbClr val="F2F5F9"/>
          </a:solidFill>
          <a:ln/>
        </p:spPr>
      </p:sp>
      <p:sp>
        <p:nvSpPr>
          <p:cNvPr id="7" name="Text 4"/>
          <p:cNvSpPr/>
          <p:nvPr/>
        </p:nvSpPr>
        <p:spPr>
          <a:xfrm>
            <a:off x="822960" y="1892808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spc="1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CATEGORICAL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22960" y="2240280"/>
            <a:ext cx="4892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labels &amp; groups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822960" y="2697480"/>
            <a:ext cx="489204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005840" y="278892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Nominal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2468880" y="278892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order — colour, city, gender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822960" y="3474720"/>
            <a:ext cx="489204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005840" y="356616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Ordinal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2468880" y="356616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ordered — small / medium / large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6199632" y="1691640"/>
            <a:ext cx="5440680" cy="2743200"/>
          </a:xfrm>
          <a:prstGeom prst="roundRect">
            <a:avLst>
              <a:gd name="adj" fmla="val 3000"/>
            </a:avLst>
          </a:prstGeom>
          <a:solidFill>
            <a:srgbClr val="F2F5F9"/>
          </a:solidFill>
          <a:ln/>
        </p:spPr>
      </p:sp>
      <p:sp>
        <p:nvSpPr>
          <p:cNvPr id="16" name="Text 13"/>
          <p:cNvSpPr/>
          <p:nvPr/>
        </p:nvSpPr>
        <p:spPr>
          <a:xfrm>
            <a:off x="6473952" y="1892808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spc="150" kern="0" dirty="0">
                <a:solidFill>
                  <a:srgbClr val="3AAF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NUMERICAL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6473952" y="2240280"/>
            <a:ext cx="4892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quantities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6473952" y="2697480"/>
            <a:ext cx="489204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656832" y="278892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Discrete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8119872" y="278892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countable — number of children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6473952" y="3474720"/>
            <a:ext cx="489204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656832" y="356616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8119872" y="356616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value — height, temperature</a:t>
            </a:r>
            <a:endParaRPr lang="en-US" sz="1150" dirty="0"/>
          </a:p>
        </p:txBody>
      </p:sp>
      <p:sp>
        <p:nvSpPr>
          <p:cNvPr id="24" name="Text 21"/>
          <p:cNvSpPr/>
          <p:nvPr/>
        </p:nvSpPr>
        <p:spPr>
          <a:xfrm>
            <a:off x="548640" y="46177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matters: the data type decides which statistics, charts and encodings you can use.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548640" y="5029200"/>
            <a:ext cx="11091672" cy="1097280"/>
          </a:xfrm>
          <a:prstGeom prst="roundRect">
            <a:avLst>
              <a:gd name="adj" fmla="val 6667"/>
            </a:avLst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26" name="Text 23"/>
          <p:cNvSpPr/>
          <p:nvPr/>
        </p:nvSpPr>
        <p:spPr>
          <a:xfrm>
            <a:off x="822960" y="502920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of thumb   </a:t>
            </a:r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DC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&amp; standard deviation suit numerical data; counts &amp; mode suit categorical data; the median is safe for skewed or ordinal data.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548640" y="643737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U6 · Probability &amp; Statistics (Part 1)</a:t>
            </a:r>
            <a:endParaRPr lang="en-US" sz="950" dirty="0"/>
          </a:p>
        </p:txBody>
      </p:sp>
      <p:sp>
        <p:nvSpPr>
          <p:cNvPr id="28" name="Text 25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balanc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DATA SITS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424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Measures of central tendency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66928" y="1709928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7" name="Text 4"/>
          <p:cNvSpPr/>
          <p:nvPr/>
        </p:nvSpPr>
        <p:spPr>
          <a:xfrm>
            <a:off x="841248" y="160020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4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 </a:t>
            </a:r>
            <a:pPr algn="l"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the average — sum ÷ count; sensitive to outliers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566928" y="2276856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9" name="Text 6"/>
          <p:cNvSpPr/>
          <p:nvPr/>
        </p:nvSpPr>
        <p:spPr>
          <a:xfrm>
            <a:off x="841248" y="2167128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4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 </a:t>
            </a:r>
            <a:pPr algn="l"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the middle value when sorted; robust to outliers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566928" y="2843784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11" name="Text 8"/>
          <p:cNvSpPr/>
          <p:nvPr/>
        </p:nvSpPr>
        <p:spPr>
          <a:xfrm>
            <a:off x="841248" y="2734056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4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  </a:t>
            </a:r>
            <a:pPr algn="l"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the most frequent value; the only one for categories</a:t>
            </a:r>
            <a:endParaRPr lang="en-US" sz="1450" dirty="0"/>
          </a:p>
        </p:txBody>
      </p:sp>
      <p:sp>
        <p:nvSpPr>
          <p:cNvPr id="12" name="Shape 9"/>
          <p:cNvSpPr/>
          <p:nvPr/>
        </p:nvSpPr>
        <p:spPr>
          <a:xfrm>
            <a:off x="548640" y="3520440"/>
            <a:ext cx="5440680" cy="1143000"/>
          </a:xfrm>
          <a:prstGeom prst="roundRect">
            <a:avLst>
              <a:gd name="adj" fmla="val 7200"/>
            </a:avLst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685800" y="3611880"/>
            <a:ext cx="5166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4B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mean  x̄ = (1/n) Σ xᵢ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685800" y="4224528"/>
            <a:ext cx="5166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C7D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every value, divide by how many there are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6400800" y="1572768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Skewed data: mean ≠ median</a:t>
            </a:r>
            <a:endParaRPr lang="en-US" sz="1300" dirty="0"/>
          </a:p>
        </p:txBody>
      </p:sp>
      <p:graphicFrame>
        <p:nvGraphicFramePr>
          <p:cNvPr id="16" name="Chart 0" descr=""/>
          <p:cNvGraphicFramePr/>
          <p:nvPr/>
        </p:nvGraphicFramePr>
        <p:xfrm>
          <a:off x="6217920" y="1920240"/>
          <a:ext cx="544068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7" name="Text 13"/>
          <p:cNvSpPr/>
          <p:nvPr/>
        </p:nvSpPr>
        <p:spPr>
          <a:xfrm>
            <a:off x="6217920" y="4681728"/>
            <a:ext cx="5440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right-skewed → mean pulled right of the median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548640" y="5138928"/>
            <a:ext cx="11091672" cy="566928"/>
          </a:xfrm>
          <a:prstGeom prst="roundRect">
            <a:avLst>
              <a:gd name="adj" fmla="val 11290"/>
            </a:avLst>
          </a:prstGeom>
          <a:solidFill>
            <a:srgbClr val="FBF1D8"/>
          </a:solidFill>
          <a:ln/>
        </p:spPr>
      </p:sp>
      <p:sp>
        <p:nvSpPr>
          <p:cNvPr id="19" name="Shape 15"/>
          <p:cNvSpPr/>
          <p:nvPr/>
        </p:nvSpPr>
        <p:spPr>
          <a:xfrm>
            <a:off x="694944" y="5257800"/>
            <a:ext cx="329184" cy="329184"/>
          </a:xfrm>
          <a:prstGeom prst="ellipse">
            <a:avLst/>
          </a:prstGeom>
          <a:solidFill>
            <a:srgbClr val="F4B942"/>
          </a:solidFill>
          <a:ln/>
        </p:spPr>
      </p:sp>
      <p:pic>
        <p:nvPicPr>
          <p:cNvPr id="20" name="Image 1" descr="ic_flask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5340096"/>
            <a:ext cx="164592" cy="164592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115568" y="5138928"/>
            <a:ext cx="10360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9A6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IN-CLASS LAB   </a:t>
            </a:r>
            <a:pPr algn="l" indent="0" marL="0">
              <a:buNone/>
            </a:pPr>
            <a:r>
              <a:rPr lang="en-US" sz="1200" dirty="0">
                <a:solidFill>
                  <a:srgbClr val="6B5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mean, median and mode on a provided CSV.</a:t>
            </a:r>
            <a:endParaRPr lang="en-US" sz="1100" dirty="0"/>
          </a:p>
        </p:txBody>
      </p:sp>
      <p:sp>
        <p:nvSpPr>
          <p:cNvPr id="22" name="Text 17"/>
          <p:cNvSpPr/>
          <p:nvPr/>
        </p:nvSpPr>
        <p:spPr>
          <a:xfrm>
            <a:off x="548640" y="643737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U6 · Probability &amp; Statistics (Part 1)</a:t>
            </a:r>
            <a:endParaRPr lang="en-US" sz="950" dirty="0"/>
          </a:p>
        </p:txBody>
      </p:sp>
      <p:sp>
        <p:nvSpPr>
          <p:cNvPr id="23" name="Text 18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spread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SPREAD OUT IT IS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424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Measures of spread (dispersion)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66928" y="1682496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7" name="Text 4"/>
          <p:cNvSpPr/>
          <p:nvPr/>
        </p:nvSpPr>
        <p:spPr>
          <a:xfrm>
            <a:off x="841248" y="1572768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4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  </a:t>
            </a:r>
            <a:pPr algn="l"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max − min; quick but outlier-sensitive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66928" y="2286000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9" name="Text 6"/>
          <p:cNvSpPr/>
          <p:nvPr/>
        </p:nvSpPr>
        <p:spPr>
          <a:xfrm>
            <a:off x="841248" y="2176272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4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Variance  σ²  </a:t>
            </a:r>
            <a:pPr algn="l"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average squared distance from the mean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66928" y="2889504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11" name="Text 8"/>
          <p:cNvSpPr/>
          <p:nvPr/>
        </p:nvSpPr>
        <p:spPr>
          <a:xfrm>
            <a:off x="841248" y="2779776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4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 deviation  σ  </a:t>
            </a:r>
            <a:pPr algn="l"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√variance — spread in the data's own units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566928" y="3493008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13" name="Text 10"/>
          <p:cNvSpPr/>
          <p:nvPr/>
        </p:nvSpPr>
        <p:spPr>
          <a:xfrm>
            <a:off x="841248" y="338328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4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IQR  </a:t>
            </a:r>
            <a:pPr algn="l"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Q3 − Q1; the middle 50%, robust to outliers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548640" y="4160520"/>
            <a:ext cx="5440680" cy="868680"/>
          </a:xfrm>
          <a:prstGeom prst="roundRect">
            <a:avLst>
              <a:gd name="adj" fmla="val 9474"/>
            </a:avLst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685800" y="4251960"/>
            <a:ext cx="5166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4B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σ² = (1/n) Σ (xᵢ − x̄)²</a:t>
            </a:r>
            <a:endParaRPr lang="en-US" sz="2200" dirty="0"/>
          </a:p>
        </p:txBody>
      </p:sp>
      <p:sp>
        <p:nvSpPr>
          <p:cNvPr id="16" name="Shape 13"/>
          <p:cNvSpPr/>
          <p:nvPr/>
        </p:nvSpPr>
        <p:spPr>
          <a:xfrm>
            <a:off x="6126480" y="1664208"/>
            <a:ext cx="5513832" cy="2743200"/>
          </a:xfrm>
          <a:prstGeom prst="roundRect">
            <a:avLst>
              <a:gd name="adj" fmla="val 2000"/>
            </a:avLst>
          </a:prstGeom>
          <a:solidFill>
            <a:srgbClr val="0E1B2E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6272784" y="1810512"/>
            <a:ext cx="91440" cy="91440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8" name="Shape 15"/>
          <p:cNvSpPr/>
          <p:nvPr/>
        </p:nvSpPr>
        <p:spPr>
          <a:xfrm>
            <a:off x="6419088" y="1810512"/>
            <a:ext cx="91440" cy="91440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9" name="Shape 16"/>
          <p:cNvSpPr/>
          <p:nvPr/>
        </p:nvSpPr>
        <p:spPr>
          <a:xfrm>
            <a:off x="6565392" y="1810512"/>
            <a:ext cx="91440" cy="91440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20" name="Text 17"/>
          <p:cNvSpPr/>
          <p:nvPr/>
        </p:nvSpPr>
        <p:spPr>
          <a:xfrm>
            <a:off x="6766560" y="1737360"/>
            <a:ext cx="4690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8FA6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spread.py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6327648" y="2048256"/>
            <a:ext cx="5111496" cy="2212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F4B9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numpy as np</a:t>
            </a:r>
            <a:endParaRPr lang="en-US" sz="11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6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 = np.array([4, 8, 6, 5, 3, 9, 7])</a:t>
            </a:r>
            <a:endParaRPr lang="en-US" sz="11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7FA8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data.mean()          # average</a:t>
            </a:r>
            <a:endParaRPr lang="en-US" sz="11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7FA8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data.var()           # variance σ²</a:t>
            </a:r>
            <a:endParaRPr lang="en-US" sz="11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7FA8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data.std()           # std deviation σ</a:t>
            </a:r>
            <a:endParaRPr lang="en-US" sz="11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7FA8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data.max() - data.min()        # range</a:t>
            </a:r>
            <a:endParaRPr lang="en-US" sz="11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6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q1, q3 = np.percentile(data, [25, 75])</a:t>
            </a:r>
            <a:endParaRPr lang="en-US" sz="11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7FA8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iqr = q3 - q1        # interquartile range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548640" y="5138928"/>
            <a:ext cx="11091672" cy="566928"/>
          </a:xfrm>
          <a:prstGeom prst="roundRect">
            <a:avLst>
              <a:gd name="adj" fmla="val 11290"/>
            </a:avLst>
          </a:prstGeom>
          <a:solidFill>
            <a:srgbClr val="FBF1D8"/>
          </a:solidFill>
          <a:ln/>
        </p:spPr>
      </p:sp>
      <p:sp>
        <p:nvSpPr>
          <p:cNvPr id="23" name="Shape 20"/>
          <p:cNvSpPr/>
          <p:nvPr/>
        </p:nvSpPr>
        <p:spPr>
          <a:xfrm>
            <a:off x="694944" y="5257800"/>
            <a:ext cx="329184" cy="329184"/>
          </a:xfrm>
          <a:prstGeom prst="ellipse">
            <a:avLst/>
          </a:prstGeom>
          <a:solidFill>
            <a:srgbClr val="F4B942"/>
          </a:solidFill>
          <a:ln/>
        </p:spPr>
      </p:sp>
      <p:pic>
        <p:nvPicPr>
          <p:cNvPr id="24" name="Image 1" descr="ic_flask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5340096"/>
            <a:ext cx="164592" cy="164592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1115568" y="5138928"/>
            <a:ext cx="10360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9A6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IN-CLASS LAB   </a:t>
            </a:r>
            <a:pPr algn="l" indent="0" marL="0">
              <a:buNone/>
            </a:pPr>
            <a:r>
              <a:rPr lang="en-US" sz="1200" dirty="0">
                <a:solidFill>
                  <a:srgbClr val="6B5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variance, standard deviation and IQR for a numeric column.</a:t>
            </a:r>
            <a:endParaRPr lang="en-US" sz="1100" dirty="0"/>
          </a:p>
        </p:txBody>
      </p:sp>
      <p:sp>
        <p:nvSpPr>
          <p:cNvPr id="26" name="Text 22"/>
          <p:cNvSpPr/>
          <p:nvPr/>
        </p:nvSpPr>
        <p:spPr>
          <a:xfrm>
            <a:off x="548640" y="587044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datasets can share a mean yet behave very differently — spread tells them apart.</a:t>
            </a:r>
            <a:endParaRPr lang="en-US" sz="1200" dirty="0"/>
          </a:p>
        </p:txBody>
      </p:sp>
      <p:sp>
        <p:nvSpPr>
          <p:cNvPr id="27" name="Text 23"/>
          <p:cNvSpPr/>
          <p:nvPr/>
        </p:nvSpPr>
        <p:spPr>
          <a:xfrm>
            <a:off x="548640" y="643737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U6 · Probability &amp; Statistics (Part 1)</a:t>
            </a:r>
            <a:endParaRPr lang="en-US" sz="950" dirty="0"/>
          </a:p>
        </p:txBody>
      </p:sp>
      <p:sp>
        <p:nvSpPr>
          <p:cNvPr id="28" name="Text 24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626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09760" y="914400"/>
            <a:ext cx="228600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0" b="1" dirty="0">
                <a:solidFill>
                  <a:srgbClr val="1F3656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</a:t>
            </a:r>
            <a:endParaRPr lang="en-US" sz="24000" dirty="0"/>
          </a:p>
        </p:txBody>
      </p:sp>
      <p:sp>
        <p:nvSpPr>
          <p:cNvPr id="3" name="Shape 1"/>
          <p:cNvSpPr/>
          <p:nvPr/>
        </p:nvSpPr>
        <p:spPr>
          <a:xfrm>
            <a:off x="822960" y="1783080"/>
            <a:ext cx="1051560" cy="1051560"/>
          </a:xfrm>
          <a:prstGeom prst="ellipse">
            <a:avLst/>
          </a:prstGeom>
          <a:solidFill>
            <a:srgbClr val="F4B942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4" name="Image 0" descr="ic_area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5850" y="2045970"/>
            <a:ext cx="525780" cy="5257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148840" y="184708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300" kern="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SHAPE &amp; RELATIONSHIPS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2121408" y="2231136"/>
            <a:ext cx="6766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Distribution shape &amp; correlation</a:t>
            </a:r>
            <a:endParaRPr lang="en-US" sz="3800" dirty="0"/>
          </a:p>
        </p:txBody>
      </p:sp>
      <p:sp>
        <p:nvSpPr>
          <p:cNvPr id="7" name="Text 4"/>
          <p:cNvSpPr/>
          <p:nvPr/>
        </p:nvSpPr>
        <p:spPr>
          <a:xfrm>
            <a:off x="2148840" y="4160520"/>
            <a:ext cx="6492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AF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centre and spread: how a distribution leans, where its quartiles fall, and how variables move together.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22960" y="6263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E8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Probability &amp; Statistics · Part 1 · 02 / 06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area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SHAPE OF A DISTRIBUTION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424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Skew, quartiles &amp; the box plot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66928" y="1709928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7" name="Text 4"/>
          <p:cNvSpPr/>
          <p:nvPr/>
        </p:nvSpPr>
        <p:spPr>
          <a:xfrm>
            <a:off x="841248" y="160020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Percentiles &amp; quartiles  </a:t>
            </a:r>
            <a:pPr algn="l"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Q1 (25%), Q2 = median (50%), Q3 (75%)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566928" y="2368296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9" name="Text 6"/>
          <p:cNvSpPr/>
          <p:nvPr/>
        </p:nvSpPr>
        <p:spPr>
          <a:xfrm>
            <a:off x="841248" y="2258568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Five-number summary  </a:t>
            </a:r>
            <a:pPr algn="l"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min · Q1 · median · Q3 · max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566928" y="3026664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11" name="Text 8"/>
          <p:cNvSpPr/>
          <p:nvPr/>
        </p:nvSpPr>
        <p:spPr>
          <a:xfrm>
            <a:off x="841248" y="2916936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Skewness  </a:t>
            </a:r>
            <a:pPr algn="l"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right-skew: tail to the right (mean &gt; median)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566928" y="3685032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13" name="Text 10"/>
          <p:cNvSpPr/>
          <p:nvPr/>
        </p:nvSpPr>
        <p:spPr>
          <a:xfrm>
            <a:off x="841248" y="3575304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IQR &amp; outliers  </a:t>
            </a:r>
            <a:pPr algn="l"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points beyond Q1−1.5·IQR or Q3+1.5·IQR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6126480" y="1664208"/>
            <a:ext cx="5513832" cy="2999232"/>
          </a:xfrm>
          <a:prstGeom prst="roundRect">
            <a:avLst>
              <a:gd name="adj" fmla="val 1829"/>
            </a:avLst>
          </a:prstGeom>
          <a:solidFill>
            <a:srgbClr val="F2F5F9"/>
          </a:solidFill>
          <a:ln/>
        </p:spPr>
      </p:sp>
      <p:sp>
        <p:nvSpPr>
          <p:cNvPr id="15" name="Text 12"/>
          <p:cNvSpPr/>
          <p:nvPr/>
        </p:nvSpPr>
        <p:spPr>
          <a:xfrm>
            <a:off x="6309360" y="1810512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 plot — the five-number summary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6629400" y="3337560"/>
            <a:ext cx="4480560" cy="0"/>
          </a:xfrm>
          <a:prstGeom prst="line">
            <a:avLst/>
          </a:prstGeom>
          <a:noFill/>
          <a:ln w="19050">
            <a:solidFill>
              <a:srgbClr val="16263F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7818120" y="2926080"/>
            <a:ext cx="1874520" cy="822960"/>
          </a:xfrm>
          <a:prstGeom prst="rect">
            <a:avLst/>
          </a:prstGeom>
          <a:solidFill>
            <a:srgbClr val="2D6A9F">
              <a:alpha val="65000"/>
            </a:srgbClr>
          </a:solidFill>
          <a:ln w="19050">
            <a:solidFill>
              <a:srgbClr val="16263F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8549640" y="2926080"/>
            <a:ext cx="0" cy="822960"/>
          </a:xfrm>
          <a:prstGeom prst="line">
            <a:avLst/>
          </a:prstGeom>
          <a:noFill/>
          <a:ln w="38100">
            <a:solidFill>
              <a:srgbClr val="F4B942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629400" y="3108960"/>
            <a:ext cx="0" cy="457200"/>
          </a:xfrm>
          <a:prstGeom prst="line">
            <a:avLst/>
          </a:prstGeom>
          <a:noFill/>
          <a:ln w="19050">
            <a:solidFill>
              <a:srgbClr val="16263F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11109960" y="3108960"/>
            <a:ext cx="0" cy="457200"/>
          </a:xfrm>
          <a:prstGeom prst="line">
            <a:avLst/>
          </a:prstGeom>
          <a:noFill/>
          <a:ln w="19050">
            <a:solidFill>
              <a:srgbClr val="16263F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172200" y="3657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7360920" y="3657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8092440" y="3657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A6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9235440" y="3657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10652760" y="3657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6309360" y="416052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box spans the middle 50% (IQR); whiskers reach the rest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548640" y="5138928"/>
            <a:ext cx="11091672" cy="566928"/>
          </a:xfrm>
          <a:prstGeom prst="roundRect">
            <a:avLst>
              <a:gd name="adj" fmla="val 11290"/>
            </a:avLst>
          </a:prstGeom>
          <a:solidFill>
            <a:srgbClr val="FBF1D8"/>
          </a:solidFill>
          <a:ln/>
        </p:spPr>
      </p:sp>
      <p:sp>
        <p:nvSpPr>
          <p:cNvPr id="28" name="Shape 25"/>
          <p:cNvSpPr/>
          <p:nvPr/>
        </p:nvSpPr>
        <p:spPr>
          <a:xfrm>
            <a:off x="694944" y="5257800"/>
            <a:ext cx="329184" cy="329184"/>
          </a:xfrm>
          <a:prstGeom prst="ellipse">
            <a:avLst/>
          </a:prstGeom>
          <a:solidFill>
            <a:srgbClr val="F4B942"/>
          </a:solidFill>
          <a:ln/>
        </p:spPr>
      </p:sp>
      <p:pic>
        <p:nvPicPr>
          <p:cNvPr id="29" name="Image 1" descr="ic_flask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5340096"/>
            <a:ext cx="164592" cy="164592"/>
          </a:xfrm>
          <a:prstGeom prst="rect">
            <a:avLst/>
          </a:prstGeom>
        </p:spPr>
      </p:pic>
      <p:sp>
        <p:nvSpPr>
          <p:cNvPr id="30" name="Text 26"/>
          <p:cNvSpPr/>
          <p:nvPr/>
        </p:nvSpPr>
        <p:spPr>
          <a:xfrm>
            <a:off x="1115568" y="5138928"/>
            <a:ext cx="10360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9A6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IN-CLASS LAB   </a:t>
            </a:r>
            <a:pPr algn="l" indent="0" marL="0">
              <a:buNone/>
            </a:pPr>
            <a:r>
              <a:rPr lang="en-US" sz="1200" dirty="0">
                <a:solidFill>
                  <a:srgbClr val="6B5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the five-number summary and read a box plot of a column.</a:t>
            </a:r>
            <a:endParaRPr lang="en-US" sz="1100" dirty="0"/>
          </a:p>
        </p:txBody>
      </p:sp>
      <p:sp>
        <p:nvSpPr>
          <p:cNvPr id="31" name="Text 27"/>
          <p:cNvSpPr/>
          <p:nvPr/>
        </p:nvSpPr>
        <p:spPr>
          <a:xfrm>
            <a:off x="548640" y="643737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U6 · Probability &amp; Statistics (Part 1)</a:t>
            </a:r>
            <a:endParaRPr lang="en-US" sz="950" dirty="0"/>
          </a:p>
        </p:txBody>
      </p:sp>
      <p:sp>
        <p:nvSpPr>
          <p:cNvPr id="32" name="Text 28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scatter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VARIABLES RELATE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424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Correlation &amp; covariance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66928" y="1709928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7" name="Text 4"/>
          <p:cNvSpPr/>
          <p:nvPr/>
        </p:nvSpPr>
        <p:spPr>
          <a:xfrm>
            <a:off x="841248" y="160020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Covariance  </a:t>
            </a:r>
            <a:pPr algn="l"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do two variables move together? (units-dependent)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566928" y="2350008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9" name="Text 6"/>
          <p:cNvSpPr/>
          <p:nvPr/>
        </p:nvSpPr>
        <p:spPr>
          <a:xfrm>
            <a:off x="841248" y="224028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 r  </a:t>
            </a:r>
            <a:pPr algn="l"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covariance scaled to −1 … +1 (unitless)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566928" y="2990088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11" name="Text 8"/>
          <p:cNvSpPr/>
          <p:nvPr/>
        </p:nvSpPr>
        <p:spPr>
          <a:xfrm>
            <a:off x="841248" y="288036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 / −1 / 0  </a:t>
            </a:r>
            <a:pPr algn="l"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perfect positive / perfect negative / no linear link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566928" y="3630168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13" name="Text 10"/>
          <p:cNvSpPr/>
          <p:nvPr/>
        </p:nvSpPr>
        <p:spPr>
          <a:xfrm>
            <a:off x="841248" y="352044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Caution  </a:t>
            </a:r>
            <a:pPr algn="l"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correlation is not causation; it only sees linear links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6355080" y="1572768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correlation (r ≈ 0.99)</a:t>
            </a:r>
            <a:endParaRPr lang="en-US" sz="1250" dirty="0"/>
          </a:p>
        </p:txBody>
      </p:sp>
      <p:graphicFrame>
        <p:nvGraphicFramePr>
          <p:cNvPr id="15" name="Chart 0" descr=""/>
          <p:cNvGraphicFramePr/>
          <p:nvPr/>
        </p:nvGraphicFramePr>
        <p:xfrm>
          <a:off x="6217920" y="1920240"/>
          <a:ext cx="544068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6" name="Shape 12"/>
          <p:cNvSpPr/>
          <p:nvPr/>
        </p:nvSpPr>
        <p:spPr>
          <a:xfrm>
            <a:off x="548640" y="5138928"/>
            <a:ext cx="11091672" cy="566928"/>
          </a:xfrm>
          <a:prstGeom prst="roundRect">
            <a:avLst>
              <a:gd name="adj" fmla="val 11290"/>
            </a:avLst>
          </a:prstGeom>
          <a:solidFill>
            <a:srgbClr val="FBF1D8"/>
          </a:solidFill>
          <a:ln/>
        </p:spPr>
      </p:sp>
      <p:sp>
        <p:nvSpPr>
          <p:cNvPr id="17" name="Shape 13"/>
          <p:cNvSpPr/>
          <p:nvPr/>
        </p:nvSpPr>
        <p:spPr>
          <a:xfrm>
            <a:off x="694944" y="5257800"/>
            <a:ext cx="329184" cy="329184"/>
          </a:xfrm>
          <a:prstGeom prst="ellipse">
            <a:avLst/>
          </a:prstGeom>
          <a:solidFill>
            <a:srgbClr val="F4B942"/>
          </a:solidFill>
          <a:ln/>
        </p:spPr>
      </p:sp>
      <p:pic>
        <p:nvPicPr>
          <p:cNvPr id="18" name="Image 1" descr="ic_flask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5340096"/>
            <a:ext cx="164592" cy="16459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115568" y="5138928"/>
            <a:ext cx="10360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9A6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IN-CLASS LAB   </a:t>
            </a:r>
            <a:pPr algn="l" indent="0" marL="0">
              <a:buNone/>
            </a:pPr>
            <a:r>
              <a:rPr lang="en-US" sz="1200" dirty="0">
                <a:solidFill>
                  <a:srgbClr val="6B5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correlation matrix; spot the most and least related features.</a:t>
            </a:r>
            <a:endParaRPr lang="en-US" sz="1100" dirty="0"/>
          </a:p>
        </p:txBody>
      </p:sp>
      <p:sp>
        <p:nvSpPr>
          <p:cNvPr id="20" name="Text 15"/>
          <p:cNvSpPr/>
          <p:nvPr/>
        </p:nvSpPr>
        <p:spPr>
          <a:xfrm>
            <a:off x="548640" y="643737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U6 · Probability &amp; Statistics (Part 1)</a:t>
            </a:r>
            <a:endParaRPr lang="en-US" sz="950" dirty="0"/>
          </a:p>
        </p:txBody>
      </p:sp>
      <p:sp>
        <p:nvSpPr>
          <p:cNvPr id="21" name="Text 16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clip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PUTTING IT TOGETHER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424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Summarizing a dataset in practice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645920"/>
            <a:ext cx="2615184" cy="960120"/>
          </a:xfrm>
          <a:prstGeom prst="roundRect">
            <a:avLst>
              <a:gd name="adj" fmla="val 7619"/>
            </a:avLst>
          </a:prstGeom>
          <a:solidFill>
            <a:srgbClr val="F2F5F9"/>
          </a:solidFill>
          <a:ln/>
        </p:spPr>
      </p:sp>
      <p:sp>
        <p:nvSpPr>
          <p:cNvPr id="7" name="Text 4"/>
          <p:cNvSpPr/>
          <p:nvPr/>
        </p:nvSpPr>
        <p:spPr>
          <a:xfrm>
            <a:off x="731520" y="1792224"/>
            <a:ext cx="22494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731520" y="2157984"/>
            <a:ext cx="2249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B27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.info() .dtypes</a:t>
            </a:r>
            <a:endParaRPr lang="en-US" sz="1200" dirty="0"/>
          </a:p>
        </p:txBody>
      </p:sp>
      <p:pic>
        <p:nvPicPr>
          <p:cNvPr id="9" name="Image 1" descr="ic_arrow_go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2968" y="2025396"/>
            <a:ext cx="164592" cy="164592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3346704" y="1645920"/>
            <a:ext cx="2615184" cy="960120"/>
          </a:xfrm>
          <a:prstGeom prst="roundRect">
            <a:avLst>
              <a:gd name="adj" fmla="val 7619"/>
            </a:avLst>
          </a:prstGeom>
          <a:solidFill>
            <a:srgbClr val="F2F5F9"/>
          </a:solidFill>
          <a:ln/>
        </p:spPr>
      </p:sp>
      <p:sp>
        <p:nvSpPr>
          <p:cNvPr id="11" name="Text 7"/>
          <p:cNvSpPr/>
          <p:nvPr/>
        </p:nvSpPr>
        <p:spPr>
          <a:xfrm>
            <a:off x="3529584" y="1792224"/>
            <a:ext cx="22494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SUMMARISE</a:t>
            </a:r>
            <a:endParaRPr lang="en-US" sz="1250" dirty="0"/>
          </a:p>
        </p:txBody>
      </p:sp>
      <p:sp>
        <p:nvSpPr>
          <p:cNvPr id="12" name="Text 8"/>
          <p:cNvSpPr/>
          <p:nvPr/>
        </p:nvSpPr>
        <p:spPr>
          <a:xfrm>
            <a:off x="3529584" y="2157984"/>
            <a:ext cx="2249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B27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.describe()</a:t>
            </a:r>
            <a:endParaRPr lang="en-US" sz="1200" dirty="0"/>
          </a:p>
        </p:txBody>
      </p:sp>
      <p:pic>
        <p:nvPicPr>
          <p:cNvPr id="13" name="Image 2" descr="ic_arrow_gol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71032" y="2025396"/>
            <a:ext cx="164592" cy="164592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6144768" y="1645920"/>
            <a:ext cx="2615184" cy="960120"/>
          </a:xfrm>
          <a:prstGeom prst="roundRect">
            <a:avLst>
              <a:gd name="adj" fmla="val 7619"/>
            </a:avLst>
          </a:prstGeom>
          <a:solidFill>
            <a:srgbClr val="F2F5F9"/>
          </a:solidFill>
          <a:ln/>
        </p:spPr>
      </p:sp>
      <p:sp>
        <p:nvSpPr>
          <p:cNvPr id="15" name="Text 10"/>
          <p:cNvSpPr/>
          <p:nvPr/>
        </p:nvSpPr>
        <p:spPr>
          <a:xfrm>
            <a:off x="6327648" y="1792224"/>
            <a:ext cx="22494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SPREAD/ SHAPE</a:t>
            </a:r>
            <a:endParaRPr lang="en-US" sz="1250" dirty="0"/>
          </a:p>
        </p:txBody>
      </p:sp>
      <p:sp>
        <p:nvSpPr>
          <p:cNvPr id="16" name="Text 11"/>
          <p:cNvSpPr/>
          <p:nvPr/>
        </p:nvSpPr>
        <p:spPr>
          <a:xfrm>
            <a:off x="6327648" y="2157984"/>
            <a:ext cx="2249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B27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.std() .skew()</a:t>
            </a:r>
            <a:endParaRPr lang="en-US" sz="1200" dirty="0"/>
          </a:p>
        </p:txBody>
      </p:sp>
      <p:pic>
        <p:nvPicPr>
          <p:cNvPr id="17" name="Image 3" descr="ic_arrow_gol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69096" y="2025396"/>
            <a:ext cx="164592" cy="164592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8942832" y="1645920"/>
            <a:ext cx="2615184" cy="960120"/>
          </a:xfrm>
          <a:prstGeom prst="roundRect">
            <a:avLst>
              <a:gd name="adj" fmla="val 7619"/>
            </a:avLst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19" name="Text 13"/>
          <p:cNvSpPr/>
          <p:nvPr/>
        </p:nvSpPr>
        <p:spPr>
          <a:xfrm>
            <a:off x="9125712" y="1792224"/>
            <a:ext cx="22494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50" kern="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</a:t>
            </a:r>
            <a:endParaRPr lang="en-US" sz="1250" dirty="0"/>
          </a:p>
        </p:txBody>
      </p:sp>
      <p:sp>
        <p:nvSpPr>
          <p:cNvPr id="20" name="Text 14"/>
          <p:cNvSpPr/>
          <p:nvPr/>
        </p:nvSpPr>
        <p:spPr>
          <a:xfrm>
            <a:off x="9125712" y="2157984"/>
            <a:ext cx="2249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DCE7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.corr()</a:t>
            </a:r>
            <a:endParaRPr lang="en-US" sz="1200" dirty="0"/>
          </a:p>
        </p:txBody>
      </p:sp>
      <p:sp>
        <p:nvSpPr>
          <p:cNvPr id="21" name="Shape 15"/>
          <p:cNvSpPr/>
          <p:nvPr/>
        </p:nvSpPr>
        <p:spPr>
          <a:xfrm>
            <a:off x="548640" y="2834640"/>
            <a:ext cx="6400800" cy="1965960"/>
          </a:xfrm>
          <a:prstGeom prst="roundRect">
            <a:avLst>
              <a:gd name="adj" fmla="val 2791"/>
            </a:avLst>
          </a:prstGeom>
          <a:solidFill>
            <a:srgbClr val="0E1B2E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694944" y="2980944"/>
            <a:ext cx="91440" cy="91440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23" name="Shape 17"/>
          <p:cNvSpPr/>
          <p:nvPr/>
        </p:nvSpPr>
        <p:spPr>
          <a:xfrm>
            <a:off x="841248" y="2980944"/>
            <a:ext cx="91440" cy="91440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24" name="Shape 18"/>
          <p:cNvSpPr/>
          <p:nvPr/>
        </p:nvSpPr>
        <p:spPr>
          <a:xfrm>
            <a:off x="987552" y="2980944"/>
            <a:ext cx="91440" cy="91440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25" name="Text 19"/>
          <p:cNvSpPr/>
          <p:nvPr/>
        </p:nvSpPr>
        <p:spPr>
          <a:xfrm>
            <a:off x="1188720" y="2907792"/>
            <a:ext cx="5577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8FA6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summary.py</a:t>
            </a:r>
            <a:endParaRPr lang="en-US" sz="950" dirty="0"/>
          </a:p>
        </p:txBody>
      </p:sp>
      <p:sp>
        <p:nvSpPr>
          <p:cNvPr id="26" name="Text 20"/>
          <p:cNvSpPr/>
          <p:nvPr/>
        </p:nvSpPr>
        <p:spPr>
          <a:xfrm>
            <a:off x="749808" y="3218688"/>
            <a:ext cx="5998464" cy="1435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F4B9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pandas as pd</a:t>
            </a:r>
            <a:endParaRPr lang="en-US" sz="11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6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 = pd.read_csv('data.csv')</a:t>
            </a:r>
            <a:endParaRPr lang="en-US" sz="11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7FA8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df.describe()        # count, mean, std, min, quartiles, max</a:t>
            </a:r>
            <a:endParaRPr lang="en-US" sz="11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7FA8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df['age'].median()   # robust centre</a:t>
            </a:r>
            <a:endParaRPr lang="en-US" sz="11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7FA8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df.corr(numeric_only=True)   # correlation matrix</a:t>
            </a:r>
            <a:endParaRPr lang="en-US" sz="1150" dirty="0"/>
          </a:p>
        </p:txBody>
      </p:sp>
      <p:sp>
        <p:nvSpPr>
          <p:cNvPr id="27" name="Shape 21"/>
          <p:cNvSpPr/>
          <p:nvPr/>
        </p:nvSpPr>
        <p:spPr>
          <a:xfrm>
            <a:off x="7132320" y="2834640"/>
            <a:ext cx="4507992" cy="1965960"/>
          </a:xfrm>
          <a:prstGeom prst="roundRect">
            <a:avLst>
              <a:gd name="adj" fmla="val 3721"/>
            </a:avLst>
          </a:prstGeom>
          <a:solidFill>
            <a:srgbClr val="F2F5F9"/>
          </a:solidFill>
          <a:ln/>
        </p:spPr>
      </p:sp>
      <p:sp>
        <p:nvSpPr>
          <p:cNvPr id="28" name="Text 22"/>
          <p:cNvSpPr/>
          <p:nvPr/>
        </p:nvSpPr>
        <p:spPr>
          <a:xfrm>
            <a:off x="7333488" y="2980944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.describe() gives it all at once</a:t>
            </a:r>
            <a:endParaRPr lang="en-US" sz="1300" dirty="0"/>
          </a:p>
        </p:txBody>
      </p:sp>
      <p:sp>
        <p:nvSpPr>
          <p:cNvPr id="29" name="Text 23"/>
          <p:cNvSpPr/>
          <p:nvPr/>
        </p:nvSpPr>
        <p:spPr>
          <a:xfrm>
            <a:off x="7333488" y="3328416"/>
            <a:ext cx="41605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2D6A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 · mean · std · min · 25% · 50% · 75% · max</a:t>
            </a:r>
            <a:endParaRPr lang="en-US" sz="11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one call returns centre, spread and shape for every numeric column.</a:t>
            </a:r>
            <a:endParaRPr lang="en-US" sz="1150" dirty="0"/>
          </a:p>
        </p:txBody>
      </p:sp>
      <p:sp>
        <p:nvSpPr>
          <p:cNvPr id="30" name="Shape 24"/>
          <p:cNvSpPr/>
          <p:nvPr/>
        </p:nvSpPr>
        <p:spPr>
          <a:xfrm>
            <a:off x="548640" y="5138928"/>
            <a:ext cx="11091672" cy="566928"/>
          </a:xfrm>
          <a:prstGeom prst="roundRect">
            <a:avLst>
              <a:gd name="adj" fmla="val 11290"/>
            </a:avLst>
          </a:prstGeom>
          <a:solidFill>
            <a:srgbClr val="FBF1D8"/>
          </a:solidFill>
          <a:ln/>
        </p:spPr>
      </p:sp>
      <p:sp>
        <p:nvSpPr>
          <p:cNvPr id="31" name="Shape 25"/>
          <p:cNvSpPr/>
          <p:nvPr/>
        </p:nvSpPr>
        <p:spPr>
          <a:xfrm>
            <a:off x="694944" y="5257800"/>
            <a:ext cx="329184" cy="329184"/>
          </a:xfrm>
          <a:prstGeom prst="ellipse">
            <a:avLst/>
          </a:prstGeom>
          <a:solidFill>
            <a:srgbClr val="F4B942"/>
          </a:solidFill>
          <a:ln/>
        </p:spPr>
      </p:sp>
      <p:pic>
        <p:nvPicPr>
          <p:cNvPr id="32" name="Image 4" descr="ic_flask_nav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5340096"/>
            <a:ext cx="164592" cy="164592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1115568" y="5138928"/>
            <a:ext cx="10360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9A6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IN-CLASS LAB   </a:t>
            </a:r>
            <a:pPr algn="l" indent="0" marL="0">
              <a:buNone/>
            </a:pPr>
            <a:r>
              <a:rPr lang="en-US" sz="1200" dirty="0">
                <a:solidFill>
                  <a:srgbClr val="6B5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 full descriptive-stats report on a provided CSV and write 3 insights.</a:t>
            </a:r>
            <a:endParaRPr lang="en-US" sz="1100" dirty="0"/>
          </a:p>
        </p:txBody>
      </p:sp>
      <p:sp>
        <p:nvSpPr>
          <p:cNvPr id="34" name="Text 27"/>
          <p:cNvSpPr/>
          <p:nvPr/>
        </p:nvSpPr>
        <p:spPr>
          <a:xfrm>
            <a:off x="548640" y="643737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U6 · Probability &amp; Statistics (Part 1)</a:t>
            </a:r>
            <a:endParaRPr lang="en-US" sz="950" dirty="0"/>
          </a:p>
        </p:txBody>
      </p:sp>
      <p:sp>
        <p:nvSpPr>
          <p:cNvPr id="35" name="Text 28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bulb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424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Recap, homework &amp; what comes next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645920"/>
            <a:ext cx="3657600" cy="3383280"/>
          </a:xfrm>
          <a:prstGeom prst="roundRect">
            <a:avLst>
              <a:gd name="adj" fmla="val 2162"/>
            </a:avLst>
          </a:prstGeom>
          <a:solidFill>
            <a:srgbClr val="F2F5F9"/>
          </a:solidFill>
          <a:ln/>
        </p:spPr>
      </p:sp>
      <p:sp>
        <p:nvSpPr>
          <p:cNvPr id="7" name="Text 4"/>
          <p:cNvSpPr/>
          <p:nvPr/>
        </p:nvSpPr>
        <p:spPr>
          <a:xfrm>
            <a:off x="749808" y="1810512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749808" y="2212848"/>
            <a:ext cx="32918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02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type decides which stats apply</a:t>
            </a:r>
            <a:endParaRPr lang="en-US" sz="1300" dirty="0"/>
          </a:p>
          <a:p>
            <a:pPr algn="l" marL="342900" indent="-342900">
              <a:lnSpc>
                <a:spcPct val="102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Mean/median/mode describe the centre</a:t>
            </a:r>
            <a:endParaRPr lang="en-US" sz="1300" dirty="0"/>
          </a:p>
          <a:p>
            <a:pPr algn="l" marL="342900" indent="-342900">
              <a:lnSpc>
                <a:spcPct val="102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Variance, std &amp; IQR describe the spread</a:t>
            </a:r>
            <a:endParaRPr lang="en-US" sz="1300" dirty="0"/>
          </a:p>
          <a:p>
            <a:pPr algn="l" marL="342900" indent="-342900">
              <a:lnSpc>
                <a:spcPct val="102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Skew &amp; quartiles describe the shape</a:t>
            </a:r>
            <a:endParaRPr lang="en-US" sz="1300" dirty="0"/>
          </a:p>
          <a:p>
            <a:pPr algn="l" marL="342900" indent="-342900">
              <a:lnSpc>
                <a:spcPct val="102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shows how variables relate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370832" y="1645920"/>
            <a:ext cx="3657600" cy="3383280"/>
          </a:xfrm>
          <a:prstGeom prst="roundRect">
            <a:avLst>
              <a:gd name="adj" fmla="val 2162"/>
            </a:avLst>
          </a:prstGeom>
          <a:solidFill>
            <a:srgbClr val="FBF1D8"/>
          </a:solidFill>
          <a:ln/>
        </p:spPr>
      </p:sp>
      <p:sp>
        <p:nvSpPr>
          <p:cNvPr id="10" name="Text 7"/>
          <p:cNvSpPr/>
          <p:nvPr/>
        </p:nvSpPr>
        <p:spPr>
          <a:xfrm>
            <a:off x="4572000" y="1810512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20" kern="0" dirty="0">
                <a:solidFill>
                  <a:srgbClr val="9A6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 / SELF-PACED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4572000" y="2212848"/>
            <a:ext cx="32918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5A4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mean / median / mode on a CSV</a:t>
            </a:r>
            <a:endParaRPr lang="en-US" sz="1250" dirty="0"/>
          </a:p>
          <a:p>
            <a:pPr algn="l" marL="342900" indent="-3429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5A4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variance, std &amp; IQR for a column</a:t>
            </a:r>
            <a:endParaRPr lang="en-US" sz="1250" dirty="0"/>
          </a:p>
          <a:p>
            <a:pPr algn="l" marL="342900" indent="-3429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5A4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five-number summary + box plot</a:t>
            </a:r>
            <a:endParaRPr lang="en-US" sz="1250" dirty="0"/>
          </a:p>
          <a:p>
            <a:pPr algn="l" marL="342900" indent="-3429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5A4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a correlation matrix</a:t>
            </a:r>
            <a:endParaRPr lang="en-US" sz="1250" dirty="0"/>
          </a:p>
          <a:p>
            <a:pPr algn="l" marL="342900" indent="-3429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5A4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3 insights from .describe()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8193024" y="1645920"/>
            <a:ext cx="3447288" cy="3383280"/>
          </a:xfrm>
          <a:prstGeom prst="roundRect">
            <a:avLst>
              <a:gd name="adj" fmla="val 2162"/>
            </a:avLst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8394192" y="181051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NEXT — PART 2 (DAY 3)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8394192" y="2286000"/>
            <a:ext cx="457200" cy="457200"/>
          </a:xfrm>
          <a:prstGeom prst="ellipse">
            <a:avLst/>
          </a:prstGeom>
          <a:solidFill>
            <a:srgbClr val="F4B942"/>
          </a:solidFill>
          <a:ln/>
        </p:spPr>
      </p:sp>
      <p:pic>
        <p:nvPicPr>
          <p:cNvPr id="15" name="Image 1" descr="ic_dice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13064" y="2404872"/>
            <a:ext cx="219456" cy="219456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8979408" y="2212848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C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Probability theory &amp; axioms; conditional probability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8394192" y="3182112"/>
            <a:ext cx="457200" cy="457200"/>
          </a:xfrm>
          <a:prstGeom prst="ellipse">
            <a:avLst/>
          </a:prstGeom>
          <a:solidFill>
            <a:srgbClr val="F4B942"/>
          </a:solidFill>
          <a:ln/>
        </p:spPr>
      </p:sp>
      <p:pic>
        <p:nvPicPr>
          <p:cNvPr id="18" name="Image 2" descr="ic_dice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3064" y="3300984"/>
            <a:ext cx="219456" cy="21945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979408" y="3108960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C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Bayes' theorem — medical-test &amp; spam examples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8394192" y="4078224"/>
            <a:ext cx="457200" cy="457200"/>
          </a:xfrm>
          <a:prstGeom prst="ellipse">
            <a:avLst/>
          </a:prstGeom>
          <a:solidFill>
            <a:srgbClr val="F4B942"/>
          </a:solidFill>
          <a:ln/>
        </p:spPr>
      </p:sp>
      <p:pic>
        <p:nvPicPr>
          <p:cNvPr id="21" name="Image 3" descr="ic_dice_nav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13064" y="4197096"/>
            <a:ext cx="219456" cy="21945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979408" y="4005072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C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Distributions (Gaussian, Poisson) + entropy, KL &amp; MI</a:t>
            </a:r>
            <a:endParaRPr lang="en-US" sz="1150" dirty="0"/>
          </a:p>
        </p:txBody>
      </p:sp>
      <p:sp>
        <p:nvSpPr>
          <p:cNvPr id="23" name="Shape 17"/>
          <p:cNvSpPr/>
          <p:nvPr/>
        </p:nvSpPr>
        <p:spPr>
          <a:xfrm>
            <a:off x="548640" y="5285232"/>
            <a:ext cx="11091672" cy="868680"/>
          </a:xfrm>
          <a:prstGeom prst="roundRect">
            <a:avLst>
              <a:gd name="adj" fmla="val 9474"/>
            </a:avLst>
          </a:prstGeom>
          <a:solidFill>
            <a:srgbClr val="F2F5F9"/>
          </a:solidFill>
          <a:ln/>
        </p:spPr>
      </p:sp>
      <p:sp>
        <p:nvSpPr>
          <p:cNvPr id="24" name="Shape 18"/>
          <p:cNvSpPr/>
          <p:nvPr/>
        </p:nvSpPr>
        <p:spPr>
          <a:xfrm>
            <a:off x="777240" y="5458968"/>
            <a:ext cx="512064" cy="512064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25" name="Image 4" descr="ic_brain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7824" y="5559552"/>
            <a:ext cx="310896" cy="310896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1463040" y="5285232"/>
            <a:ext cx="10058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ML:  </a:t>
            </a:r>
            <a:pPr algn="l" indent="0" marL="0">
              <a:buNone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descriptive stats are the first thing you compute on any dataset — they reveal scale, skew, outliers and leaks before a single model is trained.</a:t>
            </a:r>
            <a:endParaRPr lang="en-US" sz="1400" dirty="0"/>
          </a:p>
        </p:txBody>
      </p:sp>
      <p:sp>
        <p:nvSpPr>
          <p:cNvPr id="27" name="Text 20"/>
          <p:cNvSpPr/>
          <p:nvPr/>
        </p:nvSpPr>
        <p:spPr>
          <a:xfrm>
            <a:off x="548640" y="643737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U6 · Probability &amp; Statistics (Part 1)</a:t>
            </a:r>
            <a:endParaRPr lang="en-US" sz="950" dirty="0"/>
          </a:p>
        </p:txBody>
      </p:sp>
      <p:sp>
        <p:nvSpPr>
          <p:cNvPr id="28" name="Text 21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U6 — Probability &amp; Statistics (Part 1)</dc:title>
  <dc:subject>PptxGenJS Presentation</dc:subject>
  <dc:creator>AI/ML Training</dc:creator>
  <cp:lastModifiedBy>AI/ML Training</cp:lastModifiedBy>
  <cp:revision>1</cp:revision>
  <dcterms:created xsi:type="dcterms:W3CDTF">2026-06-10T13:00:29Z</dcterms:created>
  <dcterms:modified xsi:type="dcterms:W3CDTF">2026-06-10T13:00:29Z</dcterms:modified>
</cp:coreProperties>
</file>