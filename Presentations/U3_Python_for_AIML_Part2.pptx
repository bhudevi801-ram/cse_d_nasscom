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6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63F"/>
                </a:solidFill>
                <a:latin typeface="Calibri"/>
              </a:rPr>
              <a:t>Survival % by class (Seaborn barplot)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6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AF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B94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1st</c:v>
                  </c:pt>
                  <c:pt idx="1">
                    <c:v>2nd</c:v>
                  </c:pt>
                  <c:pt idx="2">
                    <c:v>3rd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47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6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3.png"/><Relationship Id="rId8" Type="http://schemas.openxmlformats.org/officeDocument/2006/relationships/image" Target="../media/image-9-8.png"/><Relationship Id="rId9" Type="http://schemas.openxmlformats.org/officeDocument/2006/relationships/image" Target="../media/image-9-3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698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A — FOUNDATIONS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Python for AI/ML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" y="34015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— </a:t>
            </a:r>
            <a:pPr algn="l" indent="0" marL="0">
              <a:buNone/>
            </a:pPr>
            <a:r>
              <a:rPr lang="en-US" sz="3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&amp; ML Library Stack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Matplotlib &amp; Seaborn · scikit-learn · Data architecture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U3  ·  Built from Module 1.7  ·  ~2.5 teaching hrs +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ut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core Python to the AI/ML toolkit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556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PART 1 (Day 1)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functions · comprehensions · generators · decorators · OOP &amp; unit tests · stdlib (collections, itertools…)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91072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19672" y="17556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PART 2 (Day 2)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libraries every model touches: array math, tabular data, visualization, and a first end-to-end scikit-learn workflow.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16152" y="367588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2" name="Image 1" descr="ic_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87705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5010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linear-algebra ops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8368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816352" y="338328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83864" y="367588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2" descr="ic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3877056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07792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926080" y="5010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grouping, merge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926080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84064" y="338328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51576" y="367588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4" name="Image 3" descr="ic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877056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75504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193792" y="5010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heatmaps, subplots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193792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351776" y="338328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19288" y="367588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0" name="Image 4" descr="ic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387705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43216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461504" y="5010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· predict · evaluate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46150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619488" y="338328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287000" y="367588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6" name="Image 5" descr="ic_diagr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3877056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710928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729216" y="5010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&amp; model–data flow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972921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ub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NumPy — arrays &amp; linear algebra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n-dimensional array that every other library is built on. Fast, vectorized math instead of Python loops.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 ·  Part 2  ·  01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ndarray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Arrays, slicing, reshaping &amp; broadcasting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7" name="Image 1" descr="ic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3794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550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shape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np.array, arange, zeros; .shape, .reshape, .ndim, .dtype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1" name="Image 2" descr="ic_filt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706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877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 index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2898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a[1:3, :], boolean masks a[a&gt;0], fancy indexing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5" name="Image 3" descr="ic_slid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7033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520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0160" y="3831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across mismatched shapes without copying data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9" name="Image 4" descr="ic_arrow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63600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4531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math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0160" y="47640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ops + axis reductions: a.sum(axis=0)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126480" y="1627632"/>
            <a:ext cx="5513832" cy="2788920"/>
          </a:xfrm>
          <a:prstGeom prst="roundRect">
            <a:avLst>
              <a:gd name="adj" fmla="val 19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272784" y="17739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7"/>
          <p:cNvSpPr/>
          <p:nvPr/>
        </p:nvSpPr>
        <p:spPr>
          <a:xfrm>
            <a:off x="6419088" y="17739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8"/>
          <p:cNvSpPr/>
          <p:nvPr/>
        </p:nvSpPr>
        <p:spPr>
          <a:xfrm>
            <a:off x="6565392" y="17739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19"/>
          <p:cNvSpPr/>
          <p:nvPr/>
        </p:nvSpPr>
        <p:spPr>
          <a:xfrm>
            <a:off x="6766560" y="170078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numpy_basics.py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327648" y="2011680"/>
            <a:ext cx="511149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np.arange(6).reshape(2, 3)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a.shape        # (2, 3)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a[:, 1]        # column slice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np.ones((3, 2))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      # matrix product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a.sum(axis=0)  # per-column sum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np.array([10,20,30])  # broadcast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+ axis-wise operations on a 2-D array.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tensors, gradients and model weights are all NumPy arrays under the hood.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DataFrame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Loading, indexing, cleaning &amp; grouping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556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 / read_json</a:t>
            </a:r>
            <a:endParaRPr lang="en-US" sz="1200" dirty="0"/>
          </a:p>
        </p:txBody>
      </p:sp>
      <p:pic>
        <p:nvPicPr>
          <p:cNvPr id="9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066544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46704" y="1627632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11" name="Text 7"/>
          <p:cNvSpPr/>
          <p:nvPr/>
        </p:nvSpPr>
        <p:spPr>
          <a:xfrm>
            <a:off x="3529584" y="17556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29584" y="2103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 .describe()</a:t>
            </a:r>
            <a:endParaRPr lang="en-US" sz="1200" dirty="0"/>
          </a:p>
        </p:txBody>
      </p:sp>
      <p:pic>
        <p:nvPicPr>
          <p:cNvPr id="13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066544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44768" y="1627632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15" name="Text 10"/>
          <p:cNvSpPr/>
          <p:nvPr/>
        </p:nvSpPr>
        <p:spPr>
          <a:xfrm>
            <a:off x="6327648" y="17556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27648" y="2103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.fillna() .astype()</a:t>
            </a:r>
            <a:endParaRPr lang="en-US" sz="1200" dirty="0"/>
          </a:p>
        </p:txBody>
      </p:sp>
      <p:pic>
        <p:nvPicPr>
          <p:cNvPr id="17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066544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42832" y="1627632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125712" y="17556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125712" y="210312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.groupby() .merge()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2926080"/>
            <a:ext cx="5943600" cy="1874520"/>
          </a:xfrm>
          <a:prstGeom prst="roundRect">
            <a:avLst>
              <a:gd name="adj" fmla="val 292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3072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3072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7552" y="3072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1188720" y="29992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pandas_groupby.py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310128"/>
            <a:ext cx="554126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pd.read_csv('titanic.csv')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df['Age'].fillna(df['Age'].median())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df.groupby('Pclass')['Survived'].mean()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675120" y="2926080"/>
            <a:ext cx="4965192" cy="1874520"/>
          </a:xfrm>
          <a:prstGeom prst="roundRect">
            <a:avLst>
              <a:gd name="adj" fmla="val 3902"/>
            </a:avLst>
          </a:prstGeom>
          <a:solidFill>
            <a:srgbClr val="F2F5F9"/>
          </a:solidFill>
          <a:ln/>
        </p:spPr>
      </p:sp>
      <p:sp>
        <p:nvSpPr>
          <p:cNvPr id="28" name="Text 22"/>
          <p:cNvSpPr/>
          <p:nvPr/>
        </p:nvSpPr>
        <p:spPr>
          <a:xfrm>
            <a:off x="6903720" y="30723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split–apply–combine idea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903720" y="3419856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rows into groups, applies an aggregation, and recombines the results — the everyday workhorse for turning raw rows into per-category insight.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CSV, fill missing values, then group by category.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where messy real-world data becomes model-ready columns.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Charts, heatmaps, styling &amp; subplots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= control · Seaborn = statistical defaults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38528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64592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151790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plt.subplots()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Grid of axes for side-by-side comparison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22128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6537960" y="2084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sns.heatmap()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Correlation matrices at a glance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7797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653796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sns.pairplot()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feature vs every feature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33467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6537960" y="32186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&amp; labels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Titles, palettes, despine for clean output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3950208"/>
            <a:ext cx="5376672" cy="822960"/>
          </a:xfrm>
          <a:prstGeom prst="roundRect">
            <a:avLst>
              <a:gd name="adj" fmla="val 6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9944" y="4096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4"/>
          <p:cNvSpPr/>
          <p:nvPr/>
        </p:nvSpPr>
        <p:spPr>
          <a:xfrm>
            <a:off x="6556248" y="4096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5"/>
          <p:cNvSpPr/>
          <p:nvPr/>
        </p:nvSpPr>
        <p:spPr>
          <a:xfrm>
            <a:off x="6702552" y="4096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6"/>
          <p:cNvSpPr/>
          <p:nvPr/>
        </p:nvSpPr>
        <p:spPr>
          <a:xfrm>
            <a:off x="6464808" y="4334256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sns.heatmap(df.corr(), annot=True)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pairplot + a subplot comparison of two charts.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charts are how you and your stakeholders actually understand the data.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scikit-learn — your first model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API across hundreds of models: fit, predict, score. This is where the stack becomes machine learning.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 ·  Part 2  ·  02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the estimator API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Split → fit → predict → evaluate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1755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130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test data</a:t>
            </a:r>
            <a:endParaRPr lang="en-US" sz="1100" dirty="0"/>
          </a:p>
        </p:txBody>
      </p:sp>
      <p:pic>
        <p:nvPicPr>
          <p:cNvPr id="9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975104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46704" y="1627632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11" name="Text 7"/>
          <p:cNvSpPr/>
          <p:nvPr/>
        </p:nvSpPr>
        <p:spPr>
          <a:xfrm>
            <a:off x="3493008" y="1755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93008" y="2130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training data</a:t>
            </a:r>
            <a:endParaRPr lang="en-US" sz="1100" dirty="0"/>
          </a:p>
        </p:txBody>
      </p:sp>
      <p:pic>
        <p:nvPicPr>
          <p:cNvPr id="13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975104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44768" y="1627632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15" name="Text 10"/>
          <p:cNvSpPr/>
          <p:nvPr/>
        </p:nvSpPr>
        <p:spPr>
          <a:xfrm>
            <a:off x="6291072" y="1755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291072" y="2130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new samples</a:t>
            </a:r>
            <a:endParaRPr lang="en-US" sz="1100" dirty="0"/>
          </a:p>
        </p:txBody>
      </p:sp>
      <p:pic>
        <p:nvPicPr>
          <p:cNvPr id="17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1975104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42832" y="1627632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19" name="Text 13"/>
          <p:cNvSpPr/>
          <p:nvPr/>
        </p:nvSpPr>
        <p:spPr>
          <a:xfrm>
            <a:off x="9089136" y="1755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089136" y="2130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2788920"/>
            <a:ext cx="6400800" cy="2011680"/>
          </a:xfrm>
          <a:prstGeom prst="roundRect">
            <a:avLst>
              <a:gd name="adj" fmla="val 272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2935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2935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7552" y="2935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1188720" y="286207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first_model.py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172968"/>
            <a:ext cx="5998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test_size=.2)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RandomForestClassifier().fit(Xtr, ytr)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accuracy_score(yte, clf.predict(Xte))   # 0.83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132320" y="2788920"/>
            <a:ext cx="4507992" cy="2011680"/>
          </a:xfrm>
          <a:prstGeom prst="roundRect">
            <a:avLst>
              <a:gd name="adj" fmla="val 363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60920" y="2999232"/>
            <a:ext cx="548640" cy="54864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4" descr="ic_cog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3108960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28432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7360920" y="3611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Pipeline([...])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preprocessing + model into one object, so the exact same steps run on train and test data — no leakage.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3" name="Shape 2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4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and evaluate it via an sklearn Pipeline.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fit / predict / score pattern works for every model you meet in Days 6–9.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INTERFACES &amp; ARCHITECTURE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data flows from source to model output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84732" y="2185416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33172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8368" y="31912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· JSON · API · DB</a:t>
            </a:r>
            <a:endParaRPr lang="en-US" sz="950" dirty="0"/>
          </a:p>
        </p:txBody>
      </p:sp>
      <p:pic>
        <p:nvPicPr>
          <p:cNvPr id="11" name="Image 2" descr="ic_arro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2642616"/>
            <a:ext cx="173736" cy="1737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96596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552444" y="2185416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233172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898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I/O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926080" y="31912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· requests</a:t>
            </a:r>
            <a:endParaRPr lang="en-US" sz="950" dirty="0"/>
          </a:p>
        </p:txBody>
      </p:sp>
      <p:pic>
        <p:nvPicPr>
          <p:cNvPr id="17" name="Image 4" descr="ic_arrow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642616"/>
            <a:ext cx="173736" cy="17373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96596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820156" y="2185416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fil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33172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898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193792" y="31912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· encode · scale</a:t>
            </a:r>
            <a:endParaRPr lang="en-US" sz="950" dirty="0"/>
          </a:p>
        </p:txBody>
      </p:sp>
      <p:pic>
        <p:nvPicPr>
          <p:cNvPr id="23" name="Image 6" descr="ic_arrow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2642616"/>
            <a:ext cx="173736" cy="17373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96596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8087868" y="218541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7" descr="ic_cube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172" y="2331720"/>
            <a:ext cx="329184" cy="32918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898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7461504" y="31912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· predict</a:t>
            </a:r>
            <a:endParaRPr lang="en-US" sz="950" dirty="0"/>
          </a:p>
        </p:txBody>
      </p:sp>
      <p:pic>
        <p:nvPicPr>
          <p:cNvPr id="29" name="Image 8" descr="ic_arrow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2642616"/>
            <a:ext cx="173736" cy="17373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96596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55580" y="2185416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2" name="Image 9" descr="ic_char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1884" y="2331720"/>
            <a:ext cx="329184" cy="32918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8986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9729216" y="31912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· charts · store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566928" y="3886200"/>
            <a:ext cx="3584448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749808" y="401421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I/O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749808" y="434340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once, reuse everywhere — keep raw data immutable.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4334256" y="3886200"/>
            <a:ext cx="3584448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39" name="Text 27"/>
          <p:cNvSpPr/>
          <p:nvPr/>
        </p:nvSpPr>
        <p:spPr>
          <a:xfrm>
            <a:off x="4517136" y="401421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Model–data flow</a:t>
            </a:r>
            <a:endParaRPr lang="en-US" sz="1350" dirty="0"/>
          </a:p>
        </p:txBody>
      </p:sp>
      <p:sp>
        <p:nvSpPr>
          <p:cNvPr id="40" name="Text 28"/>
          <p:cNvSpPr/>
          <p:nvPr/>
        </p:nvSpPr>
        <p:spPr>
          <a:xfrm>
            <a:off x="4517136" y="434340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hands a clean contract to the next.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8101584" y="3886200"/>
            <a:ext cx="3584448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42" name="Text 30"/>
          <p:cNvSpPr/>
          <p:nvPr/>
        </p:nvSpPr>
        <p:spPr>
          <a:xfrm>
            <a:off x="8284464" y="401421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prep strategy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8284464" y="434340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format &amp; location before scaling up (Days 10–11).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45" name="Shape 3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6" name="Image 10" descr="ic_flas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data flow:  raw input → model → output.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 IN ~12 LINES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766560" cy="4023360"/>
          </a:xfrm>
          <a:prstGeom prst="roundRect">
            <a:avLst>
              <a:gd name="adj" fmla="val 136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37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37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7647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mini_workflow.py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2075688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          # Pandas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df.fillna(df.median(numeric_only=True))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sns.heatmap(df.corr())                # Seaborn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df.drop('target',axis=1).values, df['target']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Xtr,Xte,ytr,yte = train_test_split(X, y)   # NumPy arrays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RandomForestClassifier().fit(Xtr, ytr) # sklearn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print(accuracy_score(yte, m.predict(Xte)))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library, one job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35240" y="2331720"/>
            <a:ext cx="4005072" cy="713232"/>
          </a:xfrm>
          <a:prstGeom prst="roundRect">
            <a:avLst>
              <a:gd name="adj" fmla="val 8974"/>
            </a:avLst>
          </a:prstGeom>
          <a:solidFill>
            <a:srgbClr val="1F3656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2523744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2374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0" y="2331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</a:t>
            </a:r>
            <a:pPr algn="l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load + clean the table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35240" y="3172968"/>
            <a:ext cx="4005072" cy="713232"/>
          </a:xfrm>
          <a:prstGeom prst="roundRect">
            <a:avLst>
              <a:gd name="adj" fmla="val 8974"/>
            </a:avLst>
          </a:prstGeom>
          <a:solidFill>
            <a:srgbClr val="1F3656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0" y="336499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2" descr="ic_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6499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31729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 </a:t>
            </a:r>
            <a:pPr algn="l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arrays feed the model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635240" y="4014216"/>
            <a:ext cx="4005072" cy="713232"/>
          </a:xfrm>
          <a:prstGeom prst="roundRect">
            <a:avLst>
              <a:gd name="adj" fmla="val 8974"/>
            </a:avLst>
          </a:prstGeom>
          <a:solidFill>
            <a:srgbClr val="1F3656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0" y="420624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3" descr="ic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20624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0" y="40142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  </a:t>
            </a:r>
            <a:pPr algn="l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 the relationships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635240" y="4855464"/>
            <a:ext cx="4005072" cy="713232"/>
          </a:xfrm>
          <a:prstGeom prst="roundRect">
            <a:avLst>
              <a:gd name="adj" fmla="val 8974"/>
            </a:avLst>
          </a:prstGeom>
          <a:solidFill>
            <a:srgbClr val="1F3656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0" y="5047488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4" descr="ic_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504748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0" y="48554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 </a:t>
            </a:r>
            <a:pPr algn="l"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fit, predict, score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674096"/>
            <a:ext cx="370881" cy="370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= the substrate for all ML math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turns messy data into clean columns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 make data understandable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one fit/predict/score API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= clean flow source → model → output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ops in NumPy (reshape, transpose, dot)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norms + cosine similarity on vectors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 CSV with Pandas + group by category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pairplot + subplot comparison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classifier through an sklearn pipeline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STILL DAY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79408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— vectors, matrices, tensors, eigen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79408" y="31363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ML — gradients &amp; backprop intuition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79408" y="403250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(Part 1)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1" descr="ic_pyth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this exact toolkit every single day for the rest of the course — from cleaning data to training the final capstone model.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· Python for AI/ML (Part 2)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AI/ML — Part 2</dc:title>
  <dc:subject>PptxGenJS Presentation</dc:subject>
  <dc:creator>AI/ML Training</dc:creator>
  <cp:lastModifiedBy>AI/ML Training</cp:lastModifiedBy>
  <cp:revision>1</cp:revision>
  <dcterms:created xsi:type="dcterms:W3CDTF">2026-06-10T12:22:55Z</dcterms:created>
  <dcterms:modified xsi:type="dcterms:W3CDTF">2026-06-10T12:22:55Z</dcterms:modified>
</cp:coreProperties>
</file>