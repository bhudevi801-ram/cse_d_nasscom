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2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Calculus for ML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41248" y="3493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models learn — by following the gradient downhill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68680" y="42245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· partial derivatives · the gradient · chain rule · backprop · Hessian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U5  ·  Bridge unit (Module 1.3.8)  ·  ~1.5–2 teaching hrs +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calculus? Learning is optimization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means minimizing a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Calculus tells us which way is downhill — the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the model can improve step by step.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526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&amp; slope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mt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Partials &amp; gradient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526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in many directions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526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compositions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n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526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in a network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curv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&amp; Taylor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526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&amp; approximation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OF LEARNING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Derivatives &amp; the gradient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 measures how fast a function changes. The gradient generalises that to many variables — and points the way uphill.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ML  ·  Day 2  · 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Derivatives — the slope of a function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212080" cy="1143000"/>
          </a:xfrm>
          <a:prstGeom prst="roundRect">
            <a:avLst>
              <a:gd name="adj" fmla="val 72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f′(x) = limₕ→₀ [f(x+h) − f(x)] / h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instantaneous slope at a point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0358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/ rate of change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much f changes for a tiny change in x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602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 negative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slope sign tells you which way f is heading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169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0599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slope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peak, valley or flat spot — where optimization stops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2784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9088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17190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derivative.py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27648" y="2029968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sympy as sp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numerical derivative (finite difference)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lambda x: x**2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1e-6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(f(3+h) - f(3)) / h        # ≈ 6.0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symbolic derivative with SymPy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sp.Symbol('x')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sp.diff(x**2, x)           # 2*x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derivative numerically and check it against SymPy.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 of the loss w.r.t. a weight tells the model how to adjust it.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t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VARIABLES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Partial derivatives &amp; the gradient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5564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∇f = [ ∂f/∂x₁ ,  ∂f/∂x₂ ,  … ,  ∂f/∂xₙ ]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gradient: a vector of partial derivatives that points in the direction of steepest ascent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8986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  ∂f/∂xᵢ 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slope along ONE variable while the others are held fixed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3924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 ∇f 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stacks all partials into one vector — direction of fastest increase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10565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9959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descent 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minimise, step in the OPPOSITE direction: −∇f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2788920"/>
            <a:ext cx="5513832" cy="1874520"/>
          </a:xfrm>
          <a:prstGeom prst="roundRect">
            <a:avLst>
              <a:gd name="adj" fmla="val 292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2784" y="2935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9088" y="2935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2935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28620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gradient.py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27648" y="3172968"/>
            <a:ext cx="511149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sp.symbols('x y')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x**2 + 3*x*y + y**2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sp.diff(f, x)     # 2*x + 3*y   (∂f/∂x)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sp.diff(f, y)     # 3*x + 2*y   (∂f/∂y)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 = [sp.diff(f, v) for v in (x, y)]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∂f/∂x and ∂f/∂y for a 2-variable function; assemble the gradient.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LEARN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chain rule &amp; backpropagation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deep compositions of functions. The chain rule is the single idea that lets gradients flow back through them.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ML  ·  Day 2  ·  02 / 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COMPOSITIONS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chain rule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212080" cy="1143000"/>
          </a:xfrm>
          <a:prstGeom prst="roundRect">
            <a:avLst>
              <a:gd name="adj" fmla="val 72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 = dy/du · du/dx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the outside, times the inside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0358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one function feeds another:  y = f(g(x))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602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links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rate of change chains together, link by link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169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0599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cares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layer is a function of the previous one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2784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9088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17190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chain_rule.py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27648" y="2029968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sp.Symbol('x')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sin(x**2)  is a composition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sp.sin(x**2)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sp.diff(y, x)     # 2*x*cos(x**2)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outer' (cos) * inner' (2x)  -&gt; chain rule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SymPy applies it automatically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a composed function by hand, then confirm with SymPy.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is just the chain rule applied repeatedly, from output back to input.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IN A NETWORK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Backpropagation intuition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F2F5F9"/>
          </a:solidFill>
          <a:ln/>
        </p:spPr>
      </p:sp>
      <p:pic>
        <p:nvPicPr>
          <p:cNvPr id="7" name="Image 1" descr="ic_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452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62763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layer 1 → layer 2 → loss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468880"/>
            <a:ext cx="5532120" cy="713232"/>
          </a:xfrm>
          <a:prstGeom prst="roundRect">
            <a:avLst>
              <a:gd name="adj" fmla="val 102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2" descr="ic_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1576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  </a:t>
            </a:r>
            <a:pPr algn="l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∂loss flows back: ∂L/∂w via chain rule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66928" y="338328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8"/>
          <p:cNvSpPr/>
          <p:nvPr/>
        </p:nvSpPr>
        <p:spPr>
          <a:xfrm>
            <a:off x="566928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87552" y="33375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loss in a forward pass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66928" y="384048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1"/>
          <p:cNvSpPr/>
          <p:nvPr/>
        </p:nvSpPr>
        <p:spPr>
          <a:xfrm>
            <a:off x="566928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87552" y="37947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chain rule layer-by-layer backwards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6928" y="4297680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4"/>
          <p:cNvSpPr/>
          <p:nvPr/>
        </p:nvSpPr>
        <p:spPr>
          <a:xfrm>
            <a:off x="566928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87552" y="4251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gets a gradient → update it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1627632"/>
            <a:ext cx="5376672" cy="3035808"/>
          </a:xfrm>
          <a:prstGeom prst="roundRect">
            <a:avLst>
              <a:gd name="adj" fmla="val 180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9944" y="17739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8"/>
          <p:cNvSpPr/>
          <p:nvPr/>
        </p:nvSpPr>
        <p:spPr>
          <a:xfrm>
            <a:off x="6556248" y="17739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9"/>
          <p:cNvSpPr/>
          <p:nvPr/>
        </p:nvSpPr>
        <p:spPr>
          <a:xfrm>
            <a:off x="6702552" y="17739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0"/>
          <p:cNvSpPr/>
          <p:nvPr/>
        </p:nvSpPr>
        <p:spPr>
          <a:xfrm>
            <a:off x="6903720" y="170078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two_layer_backprop.py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64808" y="2011680"/>
            <a:ext cx="497433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2-layer net: x -&gt; h -&gt; y_hat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 = x @ W1;  h = np.maximum(0, z1)   # ReLU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y_hat = h @ W2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((y_hat - y)**2).mean()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backward pass (chain rule)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 = 2*(y_hat - y) / y.size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dW2 = h.T @ dy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  = dy @ W2.T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dW1 = x.T @ (dh * (z1 &gt; 0))   # ReLU grad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8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9" name="Image 3" descr="ic_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gradients for a 2-layer network using partials + the chain rule.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r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INFORMATION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Hessian &amp; Taylor series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938528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47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 H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08760" y="22128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of second partial derivatives — measures curvature (how the slope itself changes)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23697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749808" y="3511296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inf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667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198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series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378561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a function near a point using its derivatives: f(x+δ) ≈ f(x) + f′(x)δ + ½f″(x)δ²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1664208"/>
            <a:ext cx="5376672" cy="2990088"/>
          </a:xfrm>
          <a:prstGeom prst="roundRect">
            <a:avLst>
              <a:gd name="adj" fmla="val 183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994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3"/>
          <p:cNvSpPr/>
          <p:nvPr/>
        </p:nvSpPr>
        <p:spPr>
          <a:xfrm>
            <a:off x="655624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70255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5"/>
          <p:cNvSpPr/>
          <p:nvPr/>
        </p:nvSpPr>
        <p:spPr>
          <a:xfrm>
            <a:off x="6903720" y="173736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hessian.py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64808" y="2048256"/>
            <a:ext cx="497433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sp.symbols('x y')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x**2 + 3*x*y + y**2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Hessian = matrix of 2nd partials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sp.hessian(f, (x, y))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[[2, 3],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[3, 2]]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curvature guides 2nd-order optimizers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tells advanced optimizers (Newton's method) how big a step to take.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BF1D8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5285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3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derivatives (gradient) give direction; second derivatives (Hessian) give curvature. Together they make optimization faster and more stable.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TO OPTIMIZATION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Putting it together: gradient descent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F365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920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←  θ  −  η · ∇L(θ)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7249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each parameter θ by stepping a little (learning rate η) against the gradient of the loss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3584448" cy="1325880"/>
          </a:xfrm>
          <a:prstGeom prst="roundRect">
            <a:avLst>
              <a:gd name="adj" fmla="val 5517"/>
            </a:avLst>
          </a:prstGeom>
          <a:solidFill>
            <a:srgbClr val="23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3739896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373989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loss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25880" y="412394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wrong the model is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5968" y="3520440"/>
            <a:ext cx="3584448" cy="1325880"/>
          </a:xfrm>
          <a:prstGeom prst="roundRect">
            <a:avLst>
              <a:gd name="adj" fmla="val 5517"/>
            </a:avLst>
          </a:prstGeom>
          <a:solidFill>
            <a:srgbClr val="233A5C"/>
          </a:solidFill>
          <a:ln/>
        </p:spPr>
      </p:sp>
      <p:sp>
        <p:nvSpPr>
          <p:cNvPr id="15" name="Shape 12"/>
          <p:cNvSpPr/>
          <p:nvPr/>
        </p:nvSpPr>
        <p:spPr>
          <a:xfrm>
            <a:off x="4498848" y="3739896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449884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93208" y="373989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gradient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093208" y="412394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calculus: ∇L via backprop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83296" y="3520440"/>
            <a:ext cx="3584448" cy="1325880"/>
          </a:xfrm>
          <a:prstGeom prst="roundRect">
            <a:avLst>
              <a:gd name="adj" fmla="val 5517"/>
            </a:avLst>
          </a:prstGeom>
          <a:solidFill>
            <a:srgbClr val="233A5C"/>
          </a:solidFill>
          <a:ln/>
        </p:spPr>
      </p:sp>
      <p:sp>
        <p:nvSpPr>
          <p:cNvPr id="20" name="Shape 17"/>
          <p:cNvSpPr/>
          <p:nvPr/>
        </p:nvSpPr>
        <p:spPr>
          <a:xfrm>
            <a:off x="8266176" y="3739896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826617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860536" y="373989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step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860536" y="412394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parameters downhill, repeat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machinery — learning rates, SGD vs Adam, convergence — arrives in U13 Optimization.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 is a slope / rate of change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∇f points uphill; −∇f downhill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differentiates compositions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= chain rule through a network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= curvature (2nd derivatives)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vs symbolic derivative of f(x)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∂f/∂x, ∂f/∂y and assemble ∇f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Chain-rule derivation by hand + SymPy check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gradients for a 2-layer network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Hessian for a 2-variable function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(Part 1) — descriptive stats (Day 2–3)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— gradient descent, SGD vs Adam, convergence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gradients &amp; chain rule power both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1" descr="ic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model trains, it is computing gradients with the chain rule and stepping downhill. Calculus is the act of learning itself.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ML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U5 — Calculus for ML</dc:title>
  <dc:subject>PptxGenJS Presentation</dc:subject>
  <dc:creator>AI/ML Training</dc:creator>
  <cp:lastModifiedBy>AI/ML Training</cp:lastModifiedBy>
  <cp:revision>1</cp:revision>
  <dcterms:created xsi:type="dcterms:W3CDTF">2026-06-10T12:51:11Z</dcterms:created>
  <dcterms:modified xsi:type="dcterms:W3CDTF">2026-06-10T12:51:11Z</dcterms:modified>
</cp:coreProperties>
</file>