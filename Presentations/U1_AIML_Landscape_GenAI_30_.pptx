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3.png"/><Relationship Id="rId6" Type="http://schemas.openxmlformats.org/officeDocument/2006/relationships/image" Target="../media/image-11-6.png"/><Relationship Id="rId7" Type="http://schemas.openxmlformats.org/officeDocument/2006/relationships/image" Target="../media/image-11-3.png"/><Relationship Id="rId8" Type="http://schemas.openxmlformats.org/officeDocument/2006/relationships/image" Target="../media/image-11-8.png"/><Relationship Id="rId9" Type="http://schemas.openxmlformats.org/officeDocument/2006/relationships/image" Target="../media/image-11-3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image" Target="../media/image-19-2.png"/><Relationship Id="rId6" Type="http://schemas.openxmlformats.org/officeDocument/2006/relationships/image" Target="../media/image-1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3.png"/><Relationship Id="rId6" Type="http://schemas.openxmlformats.org/officeDocument/2006/relationships/image" Target="../media/image-26-6.png"/><Relationship Id="rId7" Type="http://schemas.openxmlformats.org/officeDocument/2006/relationships/image" Target="../media/image-26-3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1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1  ·  PHASE A — FOUNDATIONS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AI/ML Landscape &amp; GenAI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41248" y="34564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complete picture: from artificial intelligence to machine learning, deep learning, generative &amp; agentic systems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43708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foundations deep-dive · 30 slides · 5 parts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  ·  Built from Module 1.1  ·  Day 1 · Phase 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parts, one big picture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773936"/>
            <a:ext cx="548640" cy="54864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9202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463040" y="1993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Landscape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46320" y="162763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AI, ML, DL, GenAI &amp; Agentic actually mean — and how they nest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241280" y="16276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3–9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54203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" y="2688336"/>
            <a:ext cx="548640" cy="54864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shap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83464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463040" y="2907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Learn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46320" y="254203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workflow and the three learning paradigms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241280" y="25420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10–16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45643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13232" y="3602736"/>
            <a:ext cx="548640" cy="54864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magi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74904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46304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846320" y="345643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work, prompting, and hallucinations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241280" y="34564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17–23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37083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28" name="Shape 22"/>
          <p:cNvSpPr/>
          <p:nvPr/>
        </p:nvSpPr>
        <p:spPr>
          <a:xfrm>
            <a:off x="713232" y="4517136"/>
            <a:ext cx="548640" cy="54864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9" name="Image 4" descr="ic_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66344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6304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1463040" y="4736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846320" y="437083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 that plan, act and adapt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0241280" y="43708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24–27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35" name="Shape 28"/>
          <p:cNvSpPr/>
          <p:nvPr/>
        </p:nvSpPr>
        <p:spPr>
          <a:xfrm>
            <a:off x="713232" y="5431536"/>
            <a:ext cx="548640" cy="54864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6" name="Image 5" descr="ic_industr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577840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63040" y="5394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1463040" y="5650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the Real World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4846320" y="528523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shows up across industries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0241280" y="528523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28–30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AI Landscape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build anything, let's map the territory: what each term means and how the pieces fit together.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Landscape &amp; GenAI · Day 1  ·  01 / 30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Artificial Intelligence?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the science of building systems that perform tasks normally requiring human intelligence — reasoning, perception, language, decision-making and learning.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3584448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06324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23697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09981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(ANI)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22960" y="388620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one task: spam filters, chess, image tagging. Everything in use today.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15968" y="2788920"/>
            <a:ext cx="3584448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590288" y="306324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323697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13248" y="309981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(AGI)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590288" y="388620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Human-level across any task. A research goal — not yet achieved.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83296" y="2788920"/>
            <a:ext cx="3584448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8357616" y="306324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magi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3236976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0576" y="309981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AI (ASI)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8357616" y="388620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Hypothetical: beyond human ability in all domains. Speculative.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every AI you use is Narrow AI — extremely capable, but specialised to its task.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5" name="Shape 19"/>
          <p:cNvSpPr/>
          <p:nvPr/>
        </p:nvSpPr>
        <p:spPr>
          <a:xfrm>
            <a:off x="694944" y="5559552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4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41848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15568" y="544068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term (ANI / AGI / ASI) with a real-world example.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short history of AI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3200400"/>
            <a:ext cx="10332720" cy="0"/>
          </a:xfrm>
          <a:prstGeom prst="line">
            <a:avLst/>
          </a:prstGeom>
          <a:noFill/>
          <a:ln w="25400">
            <a:solidFill>
              <a:srgbClr val="1626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0" y="3081528"/>
            <a:ext cx="237744" cy="237744"/>
          </a:xfrm>
          <a:prstGeom prst="ellipse">
            <a:avLst/>
          </a:prstGeom>
          <a:solidFill>
            <a:srgbClr val="F4B942"/>
          </a:solidFill>
          <a:ln w="25400">
            <a:solidFill>
              <a:srgbClr val="1626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47672" y="2880360"/>
            <a:ext cx="0" cy="32004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1832" y="178308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F2F5F9"/>
          </a:solidFill>
          <a:ln/>
        </p:spPr>
      </p:sp>
      <p:sp>
        <p:nvSpPr>
          <p:cNvPr id="10" name="Text 7"/>
          <p:cNvSpPr/>
          <p:nvPr/>
        </p:nvSpPr>
        <p:spPr>
          <a:xfrm>
            <a:off x="1033272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33272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AI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" y="2441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Test; the term 'AI' coined (1956)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3895344" y="3081528"/>
            <a:ext cx="237744" cy="237744"/>
          </a:xfrm>
          <a:prstGeom prst="ellipse">
            <a:avLst/>
          </a:prstGeom>
          <a:solidFill>
            <a:srgbClr val="F4B942"/>
          </a:solidFill>
          <a:ln w="25400">
            <a:solidFill>
              <a:srgbClr val="1626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14216" y="3200400"/>
            <a:ext cx="0" cy="32004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08376" y="352044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F2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3099816" y="3611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099816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99816" y="41788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AI; first 'AI winter' follows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5961888" y="3081528"/>
            <a:ext cx="237744" cy="237744"/>
          </a:xfrm>
          <a:prstGeom prst="ellipse">
            <a:avLst/>
          </a:prstGeom>
          <a:solidFill>
            <a:srgbClr val="F4B942"/>
          </a:solidFill>
          <a:ln w="25400">
            <a:solidFill>
              <a:srgbClr val="16263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80760" y="2880360"/>
            <a:ext cx="0" cy="32004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74920" y="178308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F2F5F9"/>
          </a:solidFill>
          <a:ln/>
        </p:spPr>
      </p:sp>
      <p:sp>
        <p:nvSpPr>
          <p:cNvPr id="22" name="Text 19"/>
          <p:cNvSpPr/>
          <p:nvPr/>
        </p:nvSpPr>
        <p:spPr>
          <a:xfrm>
            <a:off x="5166360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66360" y="2441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+ GPUs ignite neural networks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8028432" y="3081528"/>
            <a:ext cx="237744" cy="237744"/>
          </a:xfrm>
          <a:prstGeom prst="ellipse">
            <a:avLst/>
          </a:prstGeom>
          <a:solidFill>
            <a:srgbClr val="F4B942"/>
          </a:solidFill>
          <a:ln w="25400">
            <a:solidFill>
              <a:srgbClr val="16263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47304" y="3200400"/>
            <a:ext cx="0" cy="32004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41464" y="352044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F2F5F9"/>
          </a:solidFill>
          <a:ln/>
        </p:spPr>
      </p:sp>
      <p:sp>
        <p:nvSpPr>
          <p:cNvPr id="28" name="Text 25"/>
          <p:cNvSpPr/>
          <p:nvPr/>
        </p:nvSpPr>
        <p:spPr>
          <a:xfrm>
            <a:off x="7232904" y="3611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232904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232904" y="41788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behind modern LLMs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10094976" y="3081528"/>
            <a:ext cx="237744" cy="237744"/>
          </a:xfrm>
          <a:prstGeom prst="ellipse">
            <a:avLst/>
          </a:prstGeom>
          <a:solidFill>
            <a:srgbClr val="F4B942"/>
          </a:solidFill>
          <a:ln w="25400">
            <a:solidFill>
              <a:srgbClr val="16263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213848" y="2880360"/>
            <a:ext cx="0" cy="32004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208008" y="178308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F2F5F9"/>
          </a:solidFill>
          <a:ln/>
        </p:spPr>
      </p:sp>
      <p:sp>
        <p:nvSpPr>
          <p:cNvPr id="34" name="Text 31"/>
          <p:cNvSpPr/>
          <p:nvPr/>
        </p:nvSpPr>
        <p:spPr>
          <a:xfrm>
            <a:off x="9299448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2022+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299448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&amp; Agentic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299448" y="2441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image models, autonomous agents</a:t>
            </a:r>
            <a:endParaRPr lang="en-US" sz="930" dirty="0"/>
          </a:p>
        </p:txBody>
      </p:sp>
      <p:sp>
        <p:nvSpPr>
          <p:cNvPr id="37" name="Text 34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decades old — what changed recently is the explosion of data and compute that made deep learning practical.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AI family tree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6035040" cy="3200400"/>
          </a:xfrm>
          <a:prstGeom prst="roundRect">
            <a:avLst>
              <a:gd name="adj" fmla="val 2000"/>
            </a:avLst>
          </a:prstGeom>
          <a:solidFill>
            <a:srgbClr val="16263F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737360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5394960" cy="2514600"/>
          </a:xfrm>
          <a:prstGeom prst="roundRect">
            <a:avLst>
              <a:gd name="adj" fmla="val 2545"/>
            </a:avLst>
          </a:prstGeom>
          <a:solidFill>
            <a:srgbClr val="2D6A9F"/>
          </a:solidFill>
          <a:ln/>
        </p:spPr>
      </p:sp>
      <p:sp>
        <p:nvSpPr>
          <p:cNvPr id="9" name="Text 6"/>
          <p:cNvSpPr/>
          <p:nvPr/>
        </p:nvSpPr>
        <p:spPr>
          <a:xfrm>
            <a:off x="1033272" y="2121408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88720" y="2395728"/>
            <a:ext cx="4754880" cy="1828800"/>
          </a:xfrm>
          <a:prstGeom prst="roundRect">
            <a:avLst>
              <a:gd name="adj" fmla="val 3500"/>
            </a:avLst>
          </a:prstGeom>
          <a:solidFill>
            <a:srgbClr val="3AAFA9"/>
          </a:solidFill>
          <a:ln/>
        </p:spPr>
      </p:sp>
      <p:sp>
        <p:nvSpPr>
          <p:cNvPr id="11" name="Text 8"/>
          <p:cNvSpPr/>
          <p:nvPr/>
        </p:nvSpPr>
        <p:spPr>
          <a:xfrm>
            <a:off x="1353312" y="250545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508760" y="2779776"/>
            <a:ext cx="4114800" cy="1188720"/>
          </a:xfrm>
          <a:prstGeom prst="roundRect">
            <a:avLst>
              <a:gd name="adj" fmla="val 5385"/>
            </a:avLst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1673352" y="288950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4937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a subset of the one around it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8484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7059168" y="1600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broad goal — intelligent behaviour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8484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7059168" y="22585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systems that learn patterns from data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784848" y="30266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7"/>
          <p:cNvSpPr/>
          <p:nvPr/>
        </p:nvSpPr>
        <p:spPr>
          <a:xfrm>
            <a:off x="7059168" y="29169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ML with deep neural networks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84848" y="368503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2" name="Text 19"/>
          <p:cNvSpPr/>
          <p:nvPr/>
        </p:nvSpPr>
        <p:spPr>
          <a:xfrm>
            <a:off x="7059168" y="35753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DL that creates new content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784848" y="43434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4" name="Text 21"/>
          <p:cNvSpPr/>
          <p:nvPr/>
        </p:nvSpPr>
        <p:spPr>
          <a:xfrm>
            <a:off x="7059168" y="4233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GenAI that plans &amp; acts on goals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548640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6" name="Shape 23"/>
          <p:cNvSpPr/>
          <p:nvPr/>
        </p:nvSpPr>
        <p:spPr>
          <a:xfrm>
            <a:off x="694944" y="5605272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7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87568"/>
            <a:ext cx="164592" cy="1645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15568" y="548640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term with its definition and a real-world example.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TERMS, CLEARLY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vs ML vs DL vs GenAI vs Agentic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45920"/>
            <a:ext cx="2834640" cy="768096"/>
          </a:xfrm>
          <a:prstGeom prst="roundRect">
            <a:avLst>
              <a:gd name="adj" fmla="val 8333"/>
            </a:avLst>
          </a:prstGeom>
          <a:solidFill>
            <a:srgbClr val="16263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4592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11880" y="1645920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machines act intelligently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01000" y="164592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thermostat that 'decides', a chess engine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523744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523744"/>
            <a:ext cx="2834640" cy="768096"/>
          </a:xfrm>
          <a:prstGeom prst="roundRect">
            <a:avLst>
              <a:gd name="adj" fmla="val 8333"/>
            </a:avLst>
          </a:prstGeom>
          <a:solidFill>
            <a:srgbClr val="2D6A9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52374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11880" y="252374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rules from data, not hand-coding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01000" y="2523744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filter, price predictor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401568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401568"/>
            <a:ext cx="2834640" cy="768096"/>
          </a:xfrm>
          <a:prstGeom prst="roundRect">
            <a:avLst>
              <a:gd name="adj" fmla="val 8333"/>
            </a:avLst>
          </a:prstGeom>
          <a:solidFill>
            <a:srgbClr val="3AAFA9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401568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611880" y="3401568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with many layers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01000" y="3401568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recognition, speech-to-text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279392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279392"/>
            <a:ext cx="2834640" cy="768096"/>
          </a:xfrm>
          <a:prstGeom prst="roundRect">
            <a:avLst>
              <a:gd name="adj" fmla="val 8333"/>
            </a:avLst>
          </a:prstGeom>
          <a:solidFill>
            <a:srgbClr val="F4B942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27939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611880" y="427939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new text / images / audio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001000" y="4279392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image generators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2834640" cy="768096"/>
          </a:xfrm>
          <a:prstGeom prst="roundRect">
            <a:avLst>
              <a:gd name="adj" fmla="val 8333"/>
            </a:avLst>
          </a:prstGeom>
          <a:solidFill>
            <a:srgbClr val="16263F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157216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611880" y="515721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take actions toward goals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001000" y="5157216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AutoGPT, autonomous research agents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SHIFT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Machine Learning, defined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4708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267712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2C0C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26771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+ Data → Answers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writes the rules; the computer follows them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9632" y="164592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12" name="Text 9"/>
          <p:cNvSpPr/>
          <p:nvPr/>
        </p:nvSpPr>
        <p:spPr>
          <a:xfrm>
            <a:off x="6473952" y="184708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73952" y="2267712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CDE8D6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226771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+ Answers → Rules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73952" y="30175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learns the rules from examples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2960" y="3931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problems too complex to write rules for — recognising a cat, translating a sentence — we let the model learn the pattern from thousands of examples instead.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n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THAT GOES DEEP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Deep Learning, defined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layers of simple units loosely inspired by the brain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'Deep' = many layers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layer learns more abstract features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features itself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manual feature engineering needed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modern AI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vision, speech, language, generative models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3017520"/>
          </a:xfrm>
          <a:prstGeom prst="roundRect">
            <a:avLst>
              <a:gd name="adj" fmla="val 272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 took off now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382512" y="2331720"/>
            <a:ext cx="512064" cy="51206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7" name="Image 1" descr="ic_db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46888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40880" y="228600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internet created massive labelled datasets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382512" y="3081528"/>
            <a:ext cx="512064" cy="51206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2" descr="ic_chi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321868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40880" y="303580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GPUs made training deep nets feasible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82512" y="3831336"/>
            <a:ext cx="512064" cy="51206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3" name="Image 3" descr="ic_flow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96849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0" y="378561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better architectures (e.g. transformers)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concepts are old; the data + compute that made them work are new.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Machines Learn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system follows a workflow and falls into one of three learning paradigms. Let's break them down.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Landscape &amp; GenAI · Day 1  ·  02 / 30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l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machine-learning workflow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2880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284732" y="2066544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d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36" y="22128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7980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8368" y="3072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label</a:t>
            </a:r>
            <a:endParaRPr lang="en-US" sz="105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505456"/>
            <a:ext cx="155448" cy="15544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34640" y="182880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3" name="Shape 8"/>
          <p:cNvSpPr/>
          <p:nvPr/>
        </p:nvSpPr>
        <p:spPr>
          <a:xfrm>
            <a:off x="3552444" y="2066544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221284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26080" y="27980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2926080" y="3072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1050" dirty="0"/>
          </a:p>
        </p:txBody>
      </p:sp>
      <p:pic>
        <p:nvPicPr>
          <p:cNvPr id="17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505456"/>
            <a:ext cx="155448" cy="15544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02352" y="182880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5820156" y="2066544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5" descr="ic_cog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460" y="221284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93792" y="27980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193792" y="3072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model</a:t>
            </a:r>
            <a:endParaRPr lang="en-US" sz="1050" dirty="0"/>
          </a:p>
        </p:txBody>
      </p:sp>
      <p:pic>
        <p:nvPicPr>
          <p:cNvPr id="23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505456"/>
            <a:ext cx="155448" cy="15544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70064" y="182880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25" name="Shape 16"/>
          <p:cNvSpPr/>
          <p:nvPr/>
        </p:nvSpPr>
        <p:spPr>
          <a:xfrm>
            <a:off x="8087868" y="2066544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7" descr="ic_check2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4172" y="2212848"/>
            <a:ext cx="329184" cy="32918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61504" y="27980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7461504" y="3072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unseen data</a:t>
            </a:r>
            <a:endParaRPr lang="en-US" sz="1050" dirty="0"/>
          </a:p>
        </p:txBody>
      </p:sp>
      <p:pic>
        <p:nvPicPr>
          <p:cNvPr id="29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505456"/>
            <a:ext cx="155448" cy="155448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637776" y="182880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31" name="Shape 20"/>
          <p:cNvSpPr/>
          <p:nvPr/>
        </p:nvSpPr>
        <p:spPr>
          <a:xfrm>
            <a:off x="10355580" y="2066544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2" name="Image 9" descr="ic_server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1884" y="2212848"/>
            <a:ext cx="329184" cy="32918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729216" y="27980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34" name="Text 22"/>
          <p:cNvSpPr/>
          <p:nvPr/>
        </p:nvSpPr>
        <p:spPr>
          <a:xfrm>
            <a:off x="9729216" y="3072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</a:t>
            </a:r>
            <a:endParaRPr lang="en-US" sz="1050" dirty="0"/>
          </a:p>
        </p:txBody>
      </p:sp>
      <p:sp>
        <p:nvSpPr>
          <p:cNvPr id="35" name="Shape 23"/>
          <p:cNvSpPr/>
          <p:nvPr/>
        </p:nvSpPr>
        <p:spPr>
          <a:xfrm>
            <a:off x="548640" y="38862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2F5F9"/>
          </a:solidFill>
          <a:ln/>
        </p:spPr>
      </p:sp>
      <p:sp>
        <p:nvSpPr>
          <p:cNvPr id="36" name="Text 24"/>
          <p:cNvSpPr/>
          <p:nvPr/>
        </p:nvSpPr>
        <p:spPr>
          <a:xfrm>
            <a:off x="822960" y="3886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loop, not a line: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evaluation and deployment feed back into more data and better models. Most of the real work lives in data and preparation — the topics of Phase C.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TYPE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Supervised 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algn="l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labelled examples — each training row comes with the correct answer.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880360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04495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898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00200" y="32644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category / label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37947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 not-spam · disease vs healthy · cat vs dog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26060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473952" y="2880360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li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30449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51192" y="2898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251192" y="32644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number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73952" y="37947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· temperature · sales forecast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6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flas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3 use-cases to supervised learning; identify classification vs regression.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needs labelled data — often the most expensive part of a project.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TYPE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Unsupervised 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algn="l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structure in unlabelled data — no correct answers are given.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86207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shap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06324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73989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94944" y="40873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items together — customer segments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3346704" y="260604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86207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compre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06324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73989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93008" y="40873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features while keeping signal — PCA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144768" y="260604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86207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thum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06324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73989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91072" y="40873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items that co-occur — 'bought together'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8942832" y="260604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86207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wa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063240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73989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089136" y="40873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rare, unusual points — fraud, defects</a:t>
            </a:r>
            <a:endParaRPr lang="en-US" sz="108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real-life example of clustering or anomaly detection and explain it.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labels don't exist — which is most real-world data.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m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TYPE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Reinforcement 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algn="l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learns by trial and error — taking actions and receiving rewards.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2615184" cy="1005840"/>
          </a:xfrm>
          <a:prstGeom prst="roundRect">
            <a:avLst>
              <a:gd name="adj" fmla="val 7273"/>
            </a:avLst>
          </a:prstGeom>
          <a:solidFill>
            <a:srgbClr val="F2F5F9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7889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1363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an action</a:t>
            </a:r>
            <a:endParaRPr lang="en-US" sz="1150" dirty="0"/>
          </a:p>
        </p:txBody>
      </p:sp>
      <p:pic>
        <p:nvPicPr>
          <p:cNvPr id="11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008376"/>
            <a:ext cx="155448" cy="1554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46704" y="2606040"/>
            <a:ext cx="2615184" cy="1005840"/>
          </a:xfrm>
          <a:prstGeom prst="roundRect">
            <a:avLst>
              <a:gd name="adj" fmla="val 7273"/>
            </a:avLst>
          </a:prstGeom>
          <a:solidFill>
            <a:srgbClr val="F2F5F9"/>
          </a:solidFill>
          <a:ln/>
        </p:spPr>
      </p:sp>
      <p:sp>
        <p:nvSpPr>
          <p:cNvPr id="13" name="Text 9"/>
          <p:cNvSpPr/>
          <p:nvPr/>
        </p:nvSpPr>
        <p:spPr>
          <a:xfrm>
            <a:off x="3529584" y="27889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9584" y="31363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the world</a:t>
            </a:r>
            <a:endParaRPr lang="en-US" sz="1150" dirty="0"/>
          </a:p>
        </p:txBody>
      </p:sp>
      <p:pic>
        <p:nvPicPr>
          <p:cNvPr id="15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3008376"/>
            <a:ext cx="155448" cy="15544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44768" y="2606040"/>
            <a:ext cx="2615184" cy="1005840"/>
          </a:xfrm>
          <a:prstGeom prst="roundRect">
            <a:avLst>
              <a:gd name="adj" fmla="val 7273"/>
            </a:avLst>
          </a:prstGeom>
          <a:solidFill>
            <a:srgbClr val="F2F5F9"/>
          </a:solidFill>
          <a:ln/>
        </p:spPr>
      </p:sp>
      <p:sp>
        <p:nvSpPr>
          <p:cNvPr id="17" name="Text 12"/>
          <p:cNvSpPr/>
          <p:nvPr/>
        </p:nvSpPr>
        <p:spPr>
          <a:xfrm>
            <a:off x="6327648" y="27889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7648" y="31363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state</a:t>
            </a:r>
            <a:endParaRPr lang="en-US" sz="1150" dirty="0"/>
          </a:p>
        </p:txBody>
      </p:sp>
      <p:pic>
        <p:nvPicPr>
          <p:cNvPr id="19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3008376"/>
            <a:ext cx="155448" cy="15544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942832" y="2606040"/>
            <a:ext cx="2615184" cy="1005840"/>
          </a:xfrm>
          <a:prstGeom prst="roundRect">
            <a:avLst>
              <a:gd name="adj" fmla="val 7273"/>
            </a:avLst>
          </a:prstGeom>
          <a:solidFill>
            <a:srgbClr val="F4B942"/>
          </a:solidFill>
          <a:ln/>
        </p:spPr>
      </p:sp>
      <p:sp>
        <p:nvSpPr>
          <p:cNvPr id="21" name="Text 15"/>
          <p:cNvSpPr/>
          <p:nvPr/>
        </p:nvSpPr>
        <p:spPr>
          <a:xfrm>
            <a:off x="9125712" y="27889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25712" y="31363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signal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374904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reward loops back to the agent, which learns to maximise reward over time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1605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2F5F9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1605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AI (chess, Go), robotics, self-driving control, and RLHF that fine-tunes chatbots.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7" name="Shape 21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8" name="Image 4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learning type fits each of several scenarios.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three paradigms compared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90672"/>
                <a:gridCol w="3090672"/>
                <a:gridCol w="308152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Supervised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Unsupervised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Reinforcement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63F"/>
                          </a:solidFill>
                        </a:rPr>
                        <a:t>Input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labelled data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unlabelled data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environment + rewards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63F"/>
                          </a:solidFill>
                        </a:rPr>
                        <a:t>Goal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predict a label/value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find structure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maximise reward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63F"/>
                          </a:solidFill>
                        </a:rPr>
                        <a:t>Feedback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correct answers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reward signal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63F"/>
                          </a:solidFill>
                        </a:rPr>
                        <a:t>Example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spam detection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customer segments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game-playing AI</a:t>
                      </a:r>
                      <a:endParaRPr lang="en-US" sz="11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5720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4572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algn="l"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labels? supervised. just data? unsupervised. an agent acting in an environment? reinforcement.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indus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NAMES TO IT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 products mapped to categories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99032" y="2002536"/>
            <a:ext cx="914400" cy="91440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8" name="Image 1" descr="ic_c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" y="2212848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632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Autopilot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58368" y="34290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13232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 read the road in real time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3346704" y="16916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197096" y="2002536"/>
            <a:ext cx="914400" cy="914400"/>
          </a:xfrm>
          <a:prstGeom prst="ellipse">
            <a:avLst/>
          </a:prstGeom>
          <a:solidFill>
            <a:srgbClr val="2D6A9F"/>
          </a:solidFill>
          <a:ln/>
        </p:spPr>
      </p:sp>
      <p:pic>
        <p:nvPicPr>
          <p:cNvPr id="14" name="Image 2" descr="ic_fil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212848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56432" y="30632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456432" y="34290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511296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titles from your history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144768" y="16916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95160" y="2002536"/>
            <a:ext cx="914400" cy="9144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cha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2212848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0632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254496" y="34290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09360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language from a prompt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8942832" y="16916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793224" y="2002536"/>
            <a:ext cx="914400" cy="91440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4" descr="ic_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2212848"/>
            <a:ext cx="493776" cy="4937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52560" y="30632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052560" y="34290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107424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steps to reach a goal on its own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1" name="Shape 2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Quiz: classify 6 technologies across AI / ML / DL / GenAI / Agentic categories.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mag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Generative AI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behind ChatGPT and image generators — how it works, how to use it well, and where it goes wrong.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Landscape &amp; GenAI · Day 1  ·  03 / 30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g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NEW CONTENT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Generative AI?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generate brand-new content — text, images, audio, code — by learning patterns from huge datasets.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86207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fo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06324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73989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94944" y="40873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like GPT — chat, writing, summarising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3346704" y="260604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86207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im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06324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73989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93008" y="40873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— art, design, photos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144768" y="260604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86207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musi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06324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73989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91072" y="40873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music generation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8942832" y="2606040"/>
            <a:ext cx="2615184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86207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cod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063240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73989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089136" y="40873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assistants — generate &amp; explain code</a:t>
            </a:r>
            <a:endParaRPr lang="en-US" sz="1080" dirty="0"/>
          </a:p>
        </p:txBody>
      </p:sp>
      <p:sp>
        <p:nvSpPr>
          <p:cNvPr id="28" name="Text 21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LLMs (transformers) for text/code, diffusion models for images, GANs for some media.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0" name="Shape 2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1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3 generative-AI tools you've used and what each creates.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o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large language models work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the next token, over and over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600" dirty="0"/>
          </a:p>
        </p:txBody>
      </p:sp>
      <p:pic>
        <p:nvPicPr>
          <p:cNvPr id="9" name="Image 1" descr="ic_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340864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76272" y="20574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1" name="Text 7"/>
          <p:cNvSpPr/>
          <p:nvPr/>
        </p:nvSpPr>
        <p:spPr>
          <a:xfrm>
            <a:off x="2176272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600" dirty="0"/>
          </a:p>
        </p:txBody>
      </p:sp>
      <p:pic>
        <p:nvPicPr>
          <p:cNvPr id="12" name="Image 2" descr="ic_arrow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340864"/>
            <a:ext cx="164592" cy="16459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712464" y="20574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4" name="Text 9"/>
          <p:cNvSpPr/>
          <p:nvPr/>
        </p:nvSpPr>
        <p:spPr>
          <a:xfrm>
            <a:off x="3712464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600" dirty="0"/>
          </a:p>
        </p:txBody>
      </p:sp>
      <p:pic>
        <p:nvPicPr>
          <p:cNvPr id="15" name="Image 3" descr="ic_arrow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2340864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248656" y="20574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7" name="Text 11"/>
          <p:cNvSpPr/>
          <p:nvPr/>
        </p:nvSpPr>
        <p:spPr>
          <a:xfrm>
            <a:off x="5248656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600" dirty="0"/>
          </a:p>
        </p:txBody>
      </p:sp>
      <p:pic>
        <p:nvPicPr>
          <p:cNvPr id="18" name="Image 4" descr="ic_arrow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340864"/>
            <a:ext cx="164592" cy="16459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784848" y="20574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20" name="Text 13"/>
          <p:cNvSpPr/>
          <p:nvPr/>
        </p:nvSpPr>
        <p:spPr>
          <a:xfrm>
            <a:off x="6784848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600" dirty="0"/>
          </a:p>
        </p:txBody>
      </p:sp>
      <p:pic>
        <p:nvPicPr>
          <p:cNvPr id="21" name="Image 5" descr="ic_arrow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2340864"/>
            <a:ext cx="164592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321040" y="20574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4B942"/>
          </a:solidFill>
          <a:ln/>
        </p:spPr>
      </p:sp>
      <p:sp>
        <p:nvSpPr>
          <p:cNvPr id="23" name="Text 15"/>
          <p:cNvSpPr/>
          <p:nvPr/>
        </p:nvSpPr>
        <p:spPr>
          <a:xfrm>
            <a:off x="832104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40080" y="28803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predicts:  "mat" (most likely next token)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566928" y="34015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6" name="Text 18"/>
          <p:cNvSpPr/>
          <p:nvPr/>
        </p:nvSpPr>
        <p:spPr>
          <a:xfrm>
            <a:off x="841248" y="3291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text is split into chunks (words / word-pieces)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66928" y="378561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8" name="Text 20"/>
          <p:cNvSpPr/>
          <p:nvPr/>
        </p:nvSpPr>
        <p:spPr>
          <a:xfrm>
            <a:off x="841248" y="36758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model estimates the most likely next token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566928" y="41696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0" name="Text 22"/>
          <p:cNvSpPr/>
          <p:nvPr/>
        </p:nvSpPr>
        <p:spPr>
          <a:xfrm>
            <a:off x="841248" y="405993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learned this from trillions of words of text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66928" y="455371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2" name="Text 24"/>
          <p:cNvSpPr/>
          <p:nvPr/>
        </p:nvSpPr>
        <p:spPr>
          <a:xfrm>
            <a:off x="841248" y="4443984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repeat the prediction to produce whole answers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has no database of facts — it generates plausible text. That's powerful, and the source of hallucinations.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romp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GOOD OUTPUT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 engineering — the principles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your instruction to the model.  </a:t>
            </a:r>
            <a:pPr algn="l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 → dramatically better, more reliable output.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8163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01752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6941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94944" y="40416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exactly what you want — topic, length, format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3346704" y="256032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8163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book2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01752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6941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93008" y="40416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audience, tone, background, constraints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144768" y="256032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8163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li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01752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6941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examples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91072" y="40416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the desired output guides the model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8942832" y="256032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8163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check2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017520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6941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format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089136" y="40416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bullets, a table, JSON, steps…</a:t>
            </a:r>
            <a:endParaRPr lang="en-US" sz="108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 weak prompt applying all four principles.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a skill — small wording changes can make a big difference in quality.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romp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DIFFERENCE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Vague vs structured prompts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FBEAE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83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VAGUE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about marketing"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50545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result: generic, unfocused, probably not what you needed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E6F2EA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2461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3566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5 email subject lines for a B2B SaaS product launch, aimed at IT managers, under 8 words each, in a confident but not salesy tone."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44074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result: targeted, on-format, immediately usable  (role · count · audience · length · tone)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5" name="Shape 1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screenshot: 1 vague prompt + 1 corrected, structured version.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GETS IT WRONG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Hallucinations — what &amp; why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model states false information with full confidence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871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LLMs predict plausible text — they don't 'know' facts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644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truth check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fluent and confident ≠ correct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404164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931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 when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asked about niche facts, recent events, or specifics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3154680"/>
          </a:xfrm>
          <a:prstGeom prst="roundRect">
            <a:avLst>
              <a:gd name="adj" fmla="val 260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1874520"/>
            <a:ext cx="603504" cy="603504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ic_war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868" y="2010308"/>
            <a:ext cx="331927" cy="33192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86600" y="1920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382512" y="26974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"Who won the 2010 Nobel Prize in Physics?"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wrong answer with a plausible-sounding name is a hallucination — it looks authoritative but is fabricated.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GenAI as a brilliant, fast intern — fantastic drafts, but check anything that matters.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Detecting &amp; reducing hallucinations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9339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heck2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9456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7121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facts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4944" y="32186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claims against trusted sources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3346704" y="173736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9339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book2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9456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7121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model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93008" y="32186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the source documents to answer from (RAG)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144768" y="173736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9339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q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9456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7121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sources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291072" y="32186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citations; be wary if it can't provide them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8942832" y="173736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9339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9456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7121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089136" y="32186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anything high-stakes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548640" y="38862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2F5F9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3886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later: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grounds answers in your own documents, and is one of the most effective ways to cut hallucinations. We'll see it in the pipelines phase.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model responses and identify the hallucinated text.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Agentic AI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step: systems that don't just answer — they plan, use tools, and act to achieve goals.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Landscape &amp; GenAI · Day 1  ·  04 / 30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ANSWERING TO ACTING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Agentic AI?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pursues a goal autonomously — breaking it into steps, using tools, and adjusting based on results.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880360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ch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04495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91693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GENERATIVE AI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36850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→ it answers. One turn, you drive every step.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99632" y="260604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73952" y="2880360"/>
            <a:ext cx="658368" cy="658368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2" descr="ic_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304495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51192" y="291693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spc="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73952" y="36850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a goal → it plans, acts with tools, and iterates until done.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leap: from a tool you operate to a collaborator that operates other tools for you.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AGENT THINKS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agent loop &amp; architecture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45336" y="200253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sitema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14884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" y="1892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" y="26974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85800" y="29900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goal into steps</a:t>
            </a:r>
            <a:endParaRPr lang="en-US" sz="105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459736"/>
            <a:ext cx="155448" cy="15544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46704" y="178308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343400" y="200253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3" descr="ic_book2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2148840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93008" y="1892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438144" y="26974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3483864" y="29900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context &amp; past steps</a:t>
            </a:r>
            <a:endParaRPr lang="en-US" sz="1050" dirty="0"/>
          </a:p>
        </p:txBody>
      </p:sp>
      <p:pic>
        <p:nvPicPr>
          <p:cNvPr id="19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459736"/>
            <a:ext cx="155448" cy="15544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144768" y="178308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141464" y="200253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5" descr="ic_cog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2148840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291072" y="1892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236208" y="26974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281928" y="29900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tools / take actions</a:t>
            </a:r>
            <a:endParaRPr lang="en-US" sz="1050" dirty="0"/>
          </a:p>
        </p:txBody>
      </p:sp>
      <p:pic>
        <p:nvPicPr>
          <p:cNvPr id="26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2459736"/>
            <a:ext cx="155448" cy="15544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8942832" y="178308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9939528" y="2002536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9" name="Image 7" descr="ic_rotat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832" y="2148840"/>
            <a:ext cx="329184" cy="32918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089136" y="1892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9034272" y="26974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50" dirty="0"/>
          </a:p>
        </p:txBody>
      </p:sp>
      <p:sp>
        <p:nvSpPr>
          <p:cNvPr id="32" name="Text 22"/>
          <p:cNvSpPr/>
          <p:nvPr/>
        </p:nvSpPr>
        <p:spPr>
          <a:xfrm>
            <a:off x="9079992" y="29900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results, adjust, repeat</a:t>
            </a:r>
            <a:endParaRPr lang="en-US" sz="1050" dirty="0"/>
          </a:p>
        </p:txBody>
      </p:sp>
      <p:sp>
        <p:nvSpPr>
          <p:cNvPr id="33" name="Text 23"/>
          <p:cNvSpPr/>
          <p:nvPr/>
        </p:nvSpPr>
        <p:spPr>
          <a:xfrm>
            <a:off x="548640" y="345643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loop repeats until the goal is achieved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548640" y="3931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/>
        </p:spPr>
      </p:sp>
      <p:sp>
        <p:nvSpPr>
          <p:cNvPr id="35" name="Text 25"/>
          <p:cNvSpPr/>
          <p:nvPr/>
        </p:nvSpPr>
        <p:spPr>
          <a:xfrm>
            <a:off x="822960" y="3931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building blocks: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(reasoning), memory (state &amp; history), tools (search, code, APIs), and a feedback mechanism that lets it self-correct.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7" name="Shape 27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8" name="Image 8" descr="ic_flask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4 parts of an agent flow: plan, memory, execution, feedback.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41" name="Text 3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AT WORK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can agentic AI do?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3911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magi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4028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169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planner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4944" y="32644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researches, compares &amp; books an itinerary to your budget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3911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magnif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4028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169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93008" y="32644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sources, synthesises, and writes a report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3911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od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4028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169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291072" y="32644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writes, runs and debugs code across files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3911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industr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4028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169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automation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089136" y="32644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systems and triggers fixes automatically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548640" y="41148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114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powerful, so agents need guardrails, approvals for risky actions, and clear boundaries.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business task in your domain that's well-suited to an AI agent.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indus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in the Real World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all of this lands: the industries and everyday products already transformed by AI.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Landscape &amp; GenAI · Day 1  ·  05 / 30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indus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ACROSS INDUSTRIES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AI is used today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4825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288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08760" y="217627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self-driving, medical imaging, quality inspection, security &amp; surveillance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51713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thum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4825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18288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57800" y="217627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Amazon, Spotify, YouTube, e-commerce personalisation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804672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26617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la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4825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18288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Speech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006840" y="217627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chatbots, search, voice assistants, transcription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54864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76809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industr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8444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Ops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508760" y="371246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forecasting, fraud detection, predictive maintenance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429768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7" name="Shape 20"/>
          <p:cNvSpPr/>
          <p:nvPr/>
        </p:nvSpPr>
        <p:spPr>
          <a:xfrm>
            <a:off x="451713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5" descr="ic_magnif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58444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7800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5257800" y="371246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support, drug discovery, patient-risk prediction</a:t>
            </a:r>
            <a:endParaRPr lang="en-US" sz="1030" dirty="0"/>
          </a:p>
        </p:txBody>
      </p:sp>
      <p:sp>
        <p:nvSpPr>
          <p:cNvPr id="31" name="Shape 23"/>
          <p:cNvSpPr/>
          <p:nvPr/>
        </p:nvSpPr>
        <p:spPr>
          <a:xfrm>
            <a:off x="804672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32" name="Shape 24"/>
          <p:cNvSpPr/>
          <p:nvPr/>
        </p:nvSpPr>
        <p:spPr>
          <a:xfrm>
            <a:off x="826617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3" name="Image 6" descr="ic_magic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584448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06840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9006840" y="371246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creation, design, code assistants, synthetic data</a:t>
            </a:r>
            <a:endParaRPr lang="en-US" sz="1030" dirty="0"/>
          </a:p>
        </p:txBody>
      </p:sp>
      <p:sp>
        <p:nvSpPr>
          <p:cNvPr id="36" name="Shape 2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7" name="Shape 2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8" name="Image 7" descr="ic_flas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2 takeaways and suggest an AI use-case in your own domain.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⊃ ML ⊃ DL; GenAI &amp; Agentic build on top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learns from data: supervised, unsup, RL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took off via data + compute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predicts content; watch for hallucinations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plans, uses tools, and acts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Concept-map quiz: terms → definitions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6 technologies by AI category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use-cases to learning types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1 vague + 1 corrected prompt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an AI use-case in your domain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STILL DAY 1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Foundations — bias, fairness, ethics &amp; risks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394192" y="338328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79408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(Part 1) — the language we build with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559552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course sits somewhere on this map. Knowing the landscape tells you which technique fits which problem.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· AI/ML Landscape &amp; GenAI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2026-06-10T13:25:09Z</dcterms:created>
  <dcterms:modified xsi:type="dcterms:W3CDTF">2026-06-10T13:25:09Z</dcterms:modified>
</cp:coreProperties>
</file>