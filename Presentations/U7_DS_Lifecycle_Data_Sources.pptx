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3.png"/><Relationship Id="rId11" Type="http://schemas.openxmlformats.org/officeDocument/2006/relationships/image" Target="../media/image-4-11.png"/><Relationship Id="rId12" Type="http://schemas.openxmlformats.org/officeDocument/2006/relationships/image" Target="../media/image-4-3.png"/><Relationship Id="rId13" Type="http://schemas.openxmlformats.org/officeDocument/2006/relationships/image" Target="../media/image-4-13.png"/><Relationship Id="rId14" Type="http://schemas.openxmlformats.org/officeDocument/2006/relationships/image" Target="../media/image-4-3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3–4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DS Lifecycle &amp; Data Sources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data-science projects actually run — and where the data comes from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stages · CRISP-DM · data types · sources · formats · ingestion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U7  ·  Phase C begins  ·  Day 3–4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C begins: from maths to real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done — now we work with real data. First, the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(how a project flows end-to-end) and the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(where data comes from and in what shape).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rota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stages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methodology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media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→ unstructured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plu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DBs · APIs · web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exchan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with pandas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most of a data scientist's time goes to finding, loading and cleaning data — not modelling.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 science lifecycle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follows the same arc — from a business question to a deployed, monitored model.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Lifecycle &amp; Data Sources · Phase C  · 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 science lifecycle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2128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70632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463040" y="19842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63040" y="23682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business problem</a:t>
            </a:r>
            <a:endParaRPr lang="en-US" sz="100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2295144"/>
            <a:ext cx="146304" cy="1463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10712" y="169164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4" name="Shape 9"/>
          <p:cNvSpPr/>
          <p:nvPr/>
        </p:nvSpPr>
        <p:spPr>
          <a:xfrm>
            <a:off x="3593592" y="2057400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3" descr="ic_plu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21284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32704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4325112" y="19842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325112" y="23682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&amp; ingest data</a:t>
            </a:r>
            <a:endParaRPr lang="en-US" sz="1000" dirty="0"/>
          </a:p>
        </p:txBody>
      </p:sp>
      <p:pic>
        <p:nvPicPr>
          <p:cNvPr id="19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2295144"/>
            <a:ext cx="146304" cy="14630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72784" y="169164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1" name="Shape 14"/>
          <p:cNvSpPr/>
          <p:nvPr/>
        </p:nvSpPr>
        <p:spPr>
          <a:xfrm>
            <a:off x="6455664" y="2057400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5" descr="ic_broo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212848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494776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6"/>
          <p:cNvSpPr/>
          <p:nvPr/>
        </p:nvSpPr>
        <p:spPr>
          <a:xfrm>
            <a:off x="7187184" y="19842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7187184" y="23682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000" dirty="0"/>
          </a:p>
        </p:txBody>
      </p:sp>
      <p:pic>
        <p:nvPicPr>
          <p:cNvPr id="26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2295144"/>
            <a:ext cx="146304" cy="14630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134856" y="169164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8" name="Shape 19"/>
          <p:cNvSpPr/>
          <p:nvPr/>
        </p:nvSpPr>
        <p:spPr>
          <a:xfrm>
            <a:off x="9317736" y="2057400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9" name="Image 7" descr="ic_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3184" y="2212848"/>
            <a:ext cx="329184" cy="32918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1356848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1"/>
          <p:cNvSpPr/>
          <p:nvPr/>
        </p:nvSpPr>
        <p:spPr>
          <a:xfrm>
            <a:off x="10049256" y="19842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50" dirty="0"/>
          </a:p>
        </p:txBody>
      </p:sp>
      <p:sp>
        <p:nvSpPr>
          <p:cNvPr id="32" name="Text 22"/>
          <p:cNvSpPr/>
          <p:nvPr/>
        </p:nvSpPr>
        <p:spPr>
          <a:xfrm>
            <a:off x="10049256" y="2368296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visualise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548640" y="326440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34" name="Shape 24"/>
          <p:cNvSpPr/>
          <p:nvPr/>
        </p:nvSpPr>
        <p:spPr>
          <a:xfrm>
            <a:off x="731520" y="363016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5" name="Image 8" descr="ic_cog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3785616"/>
            <a:ext cx="329184" cy="32918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2770632" y="3355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26"/>
          <p:cNvSpPr/>
          <p:nvPr/>
        </p:nvSpPr>
        <p:spPr>
          <a:xfrm>
            <a:off x="1463040" y="35570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50" dirty="0"/>
          </a:p>
        </p:txBody>
      </p:sp>
      <p:sp>
        <p:nvSpPr>
          <p:cNvPr id="38" name="Text 27"/>
          <p:cNvSpPr/>
          <p:nvPr/>
        </p:nvSpPr>
        <p:spPr>
          <a:xfrm>
            <a:off x="1463040" y="394106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algorithms</a:t>
            </a:r>
            <a:endParaRPr lang="en-US" sz="1000" dirty="0"/>
          </a:p>
        </p:txBody>
      </p:sp>
      <p:pic>
        <p:nvPicPr>
          <p:cNvPr id="39" name="Image 9" descr="ic_arrow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6976" y="3867912"/>
            <a:ext cx="146304" cy="14630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3410712" y="326440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41" name="Shape 29"/>
          <p:cNvSpPr/>
          <p:nvPr/>
        </p:nvSpPr>
        <p:spPr>
          <a:xfrm>
            <a:off x="3593592" y="363016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42" name="Image 10" descr="ic_check2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9040" y="3785616"/>
            <a:ext cx="329184" cy="329184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632704" y="3355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000" dirty="0"/>
          </a:p>
        </p:txBody>
      </p:sp>
      <p:sp>
        <p:nvSpPr>
          <p:cNvPr id="44" name="Text 31"/>
          <p:cNvSpPr/>
          <p:nvPr/>
        </p:nvSpPr>
        <p:spPr>
          <a:xfrm>
            <a:off x="4325112" y="35570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50" dirty="0"/>
          </a:p>
        </p:txBody>
      </p:sp>
      <p:sp>
        <p:nvSpPr>
          <p:cNvPr id="45" name="Text 32"/>
          <p:cNvSpPr/>
          <p:nvPr/>
        </p:nvSpPr>
        <p:spPr>
          <a:xfrm>
            <a:off x="4325112" y="394106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validate</a:t>
            </a:r>
            <a:endParaRPr lang="en-US" sz="1000" dirty="0"/>
          </a:p>
        </p:txBody>
      </p:sp>
      <p:pic>
        <p:nvPicPr>
          <p:cNvPr id="46" name="Image 11" descr="ic_arrow_go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9048" y="3867912"/>
            <a:ext cx="146304" cy="146304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6272784" y="326440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48" name="Shape 34"/>
          <p:cNvSpPr/>
          <p:nvPr/>
        </p:nvSpPr>
        <p:spPr>
          <a:xfrm>
            <a:off x="6455664" y="363016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49" name="Image 12" descr="ic_rocket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1112" y="3785616"/>
            <a:ext cx="329184" cy="329184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8494776" y="3355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2000" dirty="0"/>
          </a:p>
        </p:txBody>
      </p:sp>
      <p:sp>
        <p:nvSpPr>
          <p:cNvPr id="51" name="Text 36"/>
          <p:cNvSpPr/>
          <p:nvPr/>
        </p:nvSpPr>
        <p:spPr>
          <a:xfrm>
            <a:off x="7187184" y="35570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50" dirty="0"/>
          </a:p>
        </p:txBody>
      </p:sp>
      <p:sp>
        <p:nvSpPr>
          <p:cNvPr id="52" name="Text 37"/>
          <p:cNvSpPr/>
          <p:nvPr/>
        </p:nvSpPr>
        <p:spPr>
          <a:xfrm>
            <a:off x="7187184" y="394106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</a:t>
            </a:r>
            <a:endParaRPr lang="en-US" sz="1000" dirty="0"/>
          </a:p>
        </p:txBody>
      </p:sp>
      <p:pic>
        <p:nvPicPr>
          <p:cNvPr id="53" name="Image 13" descr="ic_arrow_gol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1120" y="3867912"/>
            <a:ext cx="146304" cy="146304"/>
          </a:xfrm>
          <a:prstGeom prst="rect">
            <a:avLst/>
          </a:prstGeom>
        </p:spPr>
      </p:pic>
      <p:sp>
        <p:nvSpPr>
          <p:cNvPr id="54" name="Shape 38"/>
          <p:cNvSpPr/>
          <p:nvPr/>
        </p:nvSpPr>
        <p:spPr>
          <a:xfrm>
            <a:off x="9134856" y="326440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55" name="Shape 39"/>
          <p:cNvSpPr/>
          <p:nvPr/>
        </p:nvSpPr>
        <p:spPr>
          <a:xfrm>
            <a:off x="9317736" y="363016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56" name="Image 14" descr="ic_monitor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73184" y="3785616"/>
            <a:ext cx="329184" cy="329184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11356848" y="3355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000" dirty="0"/>
          </a:p>
        </p:txBody>
      </p:sp>
      <p:sp>
        <p:nvSpPr>
          <p:cNvPr id="58" name="Text 41"/>
          <p:cNvSpPr/>
          <p:nvPr/>
        </p:nvSpPr>
        <p:spPr>
          <a:xfrm>
            <a:off x="10049256" y="35570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50" dirty="0"/>
          </a:p>
        </p:txBody>
      </p:sp>
      <p:sp>
        <p:nvSpPr>
          <p:cNvPr id="59" name="Text 42"/>
          <p:cNvSpPr/>
          <p:nvPr/>
        </p:nvSpPr>
        <p:spPr>
          <a:xfrm>
            <a:off x="10049256" y="394106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&amp; maintain</a:t>
            </a:r>
            <a:endParaRPr lang="en-US" sz="1000" dirty="0"/>
          </a:p>
        </p:txBody>
      </p:sp>
      <p:sp>
        <p:nvSpPr>
          <p:cNvPr id="60" name="Text 43"/>
          <p:cNvSpPr/>
          <p:nvPr/>
        </p:nvSpPr>
        <p:spPr>
          <a:xfrm>
            <a:off x="548640" y="473659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it loops: monitoring feeds new problems and data back to the start</a:t>
            </a:r>
            <a:endParaRPr lang="en-US" sz="1200" dirty="0"/>
          </a:p>
        </p:txBody>
      </p:sp>
      <p:sp>
        <p:nvSpPr>
          <p:cNvPr id="61" name="Shape 4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62" name="Shape 4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63" name="Image 15" descr="ic_flask_nav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real project onto the 8 lifecycle stages.</a:t>
            </a:r>
            <a:endParaRPr lang="en-US" sz="1100" dirty="0"/>
          </a:p>
        </p:txBody>
      </p:sp>
      <p:sp>
        <p:nvSpPr>
          <p:cNvPr id="65" name="Text 4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66" name="Text 4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METHODOLOGY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CRISP-DM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Cross-Industry Standard Process for Data Mining — the most widely used project framework. Iterative, not linear.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889504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28072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17320" y="31546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15968" y="2606040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517136" y="2889504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4517136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84648" y="28072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84648" y="31546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do we have?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83296" y="2606040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8284464" y="2889504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7"/>
          <p:cNvSpPr/>
          <p:nvPr/>
        </p:nvSpPr>
        <p:spPr>
          <a:xfrm>
            <a:off x="8284464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951976" y="28072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951976" y="31546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shape the data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867912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49808" y="4151376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17320" y="40690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417320" y="44165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tune models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315968" y="3867912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29" name="Shape 26"/>
          <p:cNvSpPr/>
          <p:nvPr/>
        </p:nvSpPr>
        <p:spPr>
          <a:xfrm>
            <a:off x="4517136" y="4151376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0" name="Text 27"/>
          <p:cNvSpPr/>
          <p:nvPr/>
        </p:nvSpPr>
        <p:spPr>
          <a:xfrm>
            <a:off x="4517136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84648" y="40690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84648" y="44165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meet the goal?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083296" y="3867912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34" name="Shape 31"/>
          <p:cNvSpPr/>
          <p:nvPr/>
        </p:nvSpPr>
        <p:spPr>
          <a:xfrm>
            <a:off x="8284464" y="4151376"/>
            <a:ext cx="512064" cy="5120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5" name="Text 32"/>
          <p:cNvSpPr/>
          <p:nvPr/>
        </p:nvSpPr>
        <p:spPr>
          <a:xfrm>
            <a:off x="8284464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951976" y="40690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951976" y="44165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into production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arrows in CRISP-DM go both ways — you loop back whenever the data or results demand it.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53035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40" name="Shape 37"/>
          <p:cNvSpPr/>
          <p:nvPr/>
        </p:nvSpPr>
        <p:spPr>
          <a:xfrm>
            <a:off x="694944" y="5422392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1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04688"/>
            <a:ext cx="164592" cy="16459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115568" y="530352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8 lifecycle stages to CRISP-DM's 6 phases.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the time really goes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40680" cy="2999232"/>
          </a:xfrm>
          <a:prstGeom prst="roundRect">
            <a:avLst>
              <a:gd name="adj" fmla="val 2744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920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~80%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project is spent finding, loading and cleaning 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…only ~20% on the modelling everyone talks about.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1664208"/>
            <a:ext cx="5440680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6364224" y="1819656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2" name="Image 1" descr="ic_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91109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166420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778240" y="166420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pipelines that move &amp; store data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99632" y="2432304"/>
            <a:ext cx="5440680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64224" y="2587752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7" name="Image 2" descr="ic_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67919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243230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78240" y="243230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data and reports insights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99632" y="3200400"/>
            <a:ext cx="5440680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6364224" y="3355848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447288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32004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778240" y="320040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models from prepared data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199632" y="3968496"/>
            <a:ext cx="5440680" cy="676656"/>
          </a:xfrm>
          <a:prstGeom prst="roundRect">
            <a:avLst>
              <a:gd name="adj" fmla="val 9459"/>
            </a:avLst>
          </a:prstGeom>
          <a:solidFill>
            <a:srgbClr val="F2F5F9"/>
          </a:solidFill>
          <a:ln/>
        </p:spPr>
      </p:sp>
      <p:sp>
        <p:nvSpPr>
          <p:cNvPr id="26" name="Shape 20"/>
          <p:cNvSpPr/>
          <p:nvPr/>
        </p:nvSpPr>
        <p:spPr>
          <a:xfrm>
            <a:off x="6364224" y="4123944"/>
            <a:ext cx="365760" cy="36576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7" name="Image 4" descr="ic_rock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4215384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58000" y="39684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778240" y="396849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&amp; scales models in production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Phase C focuses on data: clean inputs beat clever models.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pl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MATERIALS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sources &amp; formats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lives, the shapes it takes, and how to load it into Python for analysis.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Lifecycle &amp; Data Sources · Phase C  ·  02 / 06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edi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 OF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Structured, semi-structured &amp; unstructured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84448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883664" y="1984248"/>
            <a:ext cx="914400" cy="914400"/>
          </a:xfrm>
          <a:prstGeom prst="ellipse">
            <a:avLst/>
          </a:prstGeom>
          <a:solidFill>
            <a:srgbClr val="2D6A9F"/>
          </a:solidFill>
          <a:ln/>
        </p:spPr>
      </p:sp>
      <p:pic>
        <p:nvPicPr>
          <p:cNvPr id="8" name="Image 1" descr="ic_matri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" y="2194560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06324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31520" y="344728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&amp; columns, fixed schema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14400" y="3886200"/>
            <a:ext cx="2852928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39776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tables · CSV · spreadsheets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15968" y="1691640"/>
            <a:ext cx="3584448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5650992" y="1984248"/>
            <a:ext cx="914400" cy="914400"/>
          </a:xfrm>
          <a:prstGeom prst="ellipse">
            <a:avLst/>
          </a:prstGeom>
          <a:solidFill>
            <a:srgbClr val="3AAFA9"/>
          </a:solidFill>
          <a:ln/>
        </p:spPr>
      </p:sp>
      <p:pic>
        <p:nvPicPr>
          <p:cNvPr id="15" name="Image 2" descr="ic_file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194560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98848" y="306324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498848" y="344728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/ keys, flexible schema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81728" y="3886200"/>
            <a:ext cx="2852928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498848" y="39776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XML · logs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83296" y="1691640"/>
            <a:ext cx="3584448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418320" y="1984248"/>
            <a:ext cx="914400" cy="9144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media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194560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66176" y="306324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266176" y="344728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at all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449056" y="3886200"/>
            <a:ext cx="2852928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66176" y="397764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images · audio · video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80–90% of the world's data is unstructured — and it's where deep learning shines.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several real datasets as structured, semi-structured or unstructured.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l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LIVES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data sources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sv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4825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288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08760" y="217627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JSON, Parquet on disk or cloud storage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1713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d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482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18288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57800" y="217627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(Postgres, MySQL) &amp; NoSQL (MongoDB)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266176" y="1901952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plu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482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18288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006840" y="2176272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 endpoints return JSON on request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54864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76809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pid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8444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508760" y="371246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from web pages (HTML)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429768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27" name="Shape 20"/>
          <p:cNvSpPr/>
          <p:nvPr/>
        </p:nvSpPr>
        <p:spPr>
          <a:xfrm>
            <a:off x="451713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5" descr="ic_strea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58444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257800" y="371246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feeds (Kafka, sensors, events)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8046720" y="3182112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32" name="Shape 24"/>
          <p:cNvSpPr/>
          <p:nvPr/>
        </p:nvSpPr>
        <p:spPr>
          <a:xfrm>
            <a:off x="8266176" y="3438144"/>
            <a:ext cx="603504" cy="60350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3" name="Image 6" descr="ic_warehou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584448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684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/ lakes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9006840" y="3712464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stores (Snowflake, BigQuery, S3)</a:t>
            </a:r>
            <a:endParaRPr lang="en-US" sz="1030" dirty="0"/>
          </a:p>
        </p:txBody>
      </p:sp>
      <p:sp>
        <p:nvSpPr>
          <p:cNvPr id="36" name="Shape 2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7" name="Shape 2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8" name="Image 7" descr="ic_flas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use case, list which data sources you'd pull from and why.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FORMATS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data formats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/ TSV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0" y="16642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comma/tab separated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16642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universal, human-readable; no types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414016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1401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0" y="2414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key/value — from APIs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24140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flexible; great for semi-structured data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163824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1638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00400" y="31638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tag-based, verbose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9520" y="31638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systems, config, feeds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913632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913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00400" y="39136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columnar, compressed binary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39136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analytics on big data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663440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663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tables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200400" y="4663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a relational database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89520" y="4663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algn="l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queryable, enforced schema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CSV/JSON to share &amp; exchange; Parquet &amp; SQL when data gets large.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WITH PANDAS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ingestion in practice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library, many formats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pandas reads CSV, JSON, Excel, SQL, Parquet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requests fetches JSON → pandas DataFrame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first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.head() · .shape · .dtypes before anything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it's a DataFrame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consistent object for all later steps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3154680"/>
          </a:xfrm>
          <a:prstGeom prst="roundRect">
            <a:avLst>
              <a:gd name="adj" fmla="val 1739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requests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a file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pd.read_json('data.json')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pd.read_parquet('data.parquet')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a SQL database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pd.read_sql('SELECT * FROM t', conn)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a REST API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requests.get(url).json()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pd.DataFrame(r)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df.head(); df.shape; df.dtypes  # inspect!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from a CSV and from a public API into a DataFrame and inspect it.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follow a repeatable lifecycle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is the standard, iterative framework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effort is data, not modelling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structured, semi- or unstructured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loads almost any source/format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real project to the lifecycle stages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lifecycle stages to CRISP-DM phases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datasets by structure type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data sources for a use case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 + an API into a DataFrame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PHASE C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 — handling messy real data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38328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79408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d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model anything, you need a plan for the project and a way to get the data in. That's what Phase C is all about.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 · DS Lifecycle &amp; Data Sources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2026-06-10T14:50:35Z</dcterms:created>
  <dcterms:modified xsi:type="dcterms:W3CDTF">2026-06-10T14:50:35Z</dcterms:modified>
</cp:coreProperties>
</file>