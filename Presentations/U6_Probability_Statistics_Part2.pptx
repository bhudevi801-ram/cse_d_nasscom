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pdf</c:v>
                </c:pt>
              </c:strCache>
            </c:strRef>
          </c:tx>
          <c:spPr>
            <a:solidFill>
              <a:srgbClr val="2D6A9F"/>
            </a:solidFill>
            <a:ln w="38100" cap="flat">
              <a:solidFill>
                <a:srgbClr val="2D6A9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D6A9F"/>
              </a:solidFill>
              <a:ln w="9525" cap="flat">
                <a:solidFill>
                  <a:srgbClr val="2D6A9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Sheet1!$A$2:$A$82</c:f>
              <c:multiLvlStrCache>
                <c:ptCount val="81"/>
                <c:lvl>
                  <c:pt idx="0">
                    <c:v>-4.0</c:v>
                  </c:pt>
                  <c:pt idx="1">
                    <c:v>-3.9</c:v>
                  </c:pt>
                  <c:pt idx="2">
                    <c:v>-3.8</c:v>
                  </c:pt>
                  <c:pt idx="3">
                    <c:v>-3.7</c:v>
                  </c:pt>
                  <c:pt idx="4">
                    <c:v>-3.6</c:v>
                  </c:pt>
                  <c:pt idx="5">
                    <c:v>-3.5</c:v>
                  </c:pt>
                  <c:pt idx="6">
                    <c:v>-3.4</c:v>
                  </c:pt>
                  <c:pt idx="7">
                    <c:v>-3.3</c:v>
                  </c:pt>
                  <c:pt idx="8">
                    <c:v>-3.2</c:v>
                  </c:pt>
                  <c:pt idx="9">
                    <c:v>-3.1</c:v>
                  </c:pt>
                  <c:pt idx="10">
                    <c:v>-3.0</c:v>
                  </c:pt>
                  <c:pt idx="11">
                    <c:v>-2.9</c:v>
                  </c:pt>
                  <c:pt idx="12">
                    <c:v>-2.8</c:v>
                  </c:pt>
                  <c:pt idx="13">
                    <c:v>-2.7</c:v>
                  </c:pt>
                  <c:pt idx="14">
                    <c:v>-2.6</c:v>
                  </c:pt>
                  <c:pt idx="15">
                    <c:v>-2.5</c:v>
                  </c:pt>
                  <c:pt idx="16">
                    <c:v>-2.4</c:v>
                  </c:pt>
                  <c:pt idx="17">
                    <c:v>-2.3</c:v>
                  </c:pt>
                  <c:pt idx="18">
                    <c:v>-2.2</c:v>
                  </c:pt>
                  <c:pt idx="19">
                    <c:v>-2.1</c:v>
                  </c:pt>
                  <c:pt idx="20">
                    <c:v>-2.0</c:v>
                  </c:pt>
                  <c:pt idx="21">
                    <c:v>-1.9</c:v>
                  </c:pt>
                  <c:pt idx="22">
                    <c:v>-1.8</c:v>
                  </c:pt>
                  <c:pt idx="23">
                    <c:v>-1.7</c:v>
                  </c:pt>
                  <c:pt idx="24">
                    <c:v>-1.6</c:v>
                  </c:pt>
                  <c:pt idx="25">
                    <c:v>-1.5</c:v>
                  </c:pt>
                  <c:pt idx="26">
                    <c:v>-1.4</c:v>
                  </c:pt>
                  <c:pt idx="27">
                    <c:v>-1.3</c:v>
                  </c:pt>
                  <c:pt idx="28">
                    <c:v>-1.2</c:v>
                  </c:pt>
                  <c:pt idx="29">
                    <c:v>-1.1</c:v>
                  </c:pt>
                  <c:pt idx="30">
                    <c:v>-1.0</c:v>
                  </c:pt>
                  <c:pt idx="31">
                    <c:v>-0.9</c:v>
                  </c:pt>
                  <c:pt idx="32">
                    <c:v>-0.8</c:v>
                  </c:pt>
                  <c:pt idx="33">
                    <c:v>-0.7</c:v>
                  </c:pt>
                  <c:pt idx="34">
                    <c:v>-0.6</c:v>
                  </c:pt>
                  <c:pt idx="35">
                    <c:v>-0.5</c:v>
                  </c:pt>
                  <c:pt idx="36">
                    <c:v>-0.4</c:v>
                  </c:pt>
                  <c:pt idx="37">
                    <c:v>-0.3</c:v>
                  </c:pt>
                  <c:pt idx="38">
                    <c:v>-0.2</c:v>
                  </c:pt>
                  <c:pt idx="39">
                    <c:v>-0.1</c:v>
                  </c:pt>
                  <c:pt idx="40">
                    <c:v>0.0</c:v>
                  </c:pt>
                  <c:pt idx="41">
                    <c:v>0.1</c:v>
                  </c:pt>
                  <c:pt idx="42">
                    <c:v>0.2</c:v>
                  </c:pt>
                  <c:pt idx="43">
                    <c:v>0.3</c:v>
                  </c:pt>
                  <c:pt idx="44">
                    <c:v>0.4</c:v>
                  </c:pt>
                  <c:pt idx="45">
                    <c:v>0.5</c:v>
                  </c:pt>
                  <c:pt idx="46">
                    <c:v>0.6</c:v>
                  </c:pt>
                  <c:pt idx="47">
                    <c:v>0.7</c:v>
                  </c:pt>
                  <c:pt idx="48">
                    <c:v>0.8</c:v>
                  </c:pt>
                  <c:pt idx="49">
                    <c:v>0.9</c:v>
                  </c:pt>
                  <c:pt idx="50">
                    <c:v>1.0</c:v>
                  </c:pt>
                  <c:pt idx="51">
                    <c:v>1.1</c:v>
                  </c:pt>
                  <c:pt idx="52">
                    <c:v>1.2</c:v>
                  </c:pt>
                  <c:pt idx="53">
                    <c:v>1.3</c:v>
                  </c:pt>
                  <c:pt idx="54">
                    <c:v>1.4</c:v>
                  </c:pt>
                  <c:pt idx="55">
                    <c:v>1.5</c:v>
                  </c:pt>
                  <c:pt idx="56">
                    <c:v>1.6</c:v>
                  </c:pt>
                  <c:pt idx="57">
                    <c:v>1.7</c:v>
                  </c:pt>
                  <c:pt idx="58">
                    <c:v>1.8</c:v>
                  </c:pt>
                  <c:pt idx="59">
                    <c:v>1.9</c:v>
                  </c:pt>
                  <c:pt idx="60">
                    <c:v>2.0</c:v>
                  </c:pt>
                  <c:pt idx="61">
                    <c:v>2.1</c:v>
                  </c:pt>
                  <c:pt idx="62">
                    <c:v>2.2</c:v>
                  </c:pt>
                  <c:pt idx="63">
                    <c:v>2.3</c:v>
                  </c:pt>
                  <c:pt idx="64">
                    <c:v>2.4</c:v>
                  </c:pt>
                  <c:pt idx="65">
                    <c:v>2.5</c:v>
                  </c:pt>
                  <c:pt idx="66">
                    <c:v>2.6</c:v>
                  </c:pt>
                  <c:pt idx="67">
                    <c:v>2.7</c:v>
                  </c:pt>
                  <c:pt idx="68">
                    <c:v>2.8</c:v>
                  </c:pt>
                  <c:pt idx="69">
                    <c:v>2.9</c:v>
                  </c:pt>
                  <c:pt idx="70">
                    <c:v>3.0</c:v>
                  </c:pt>
                  <c:pt idx="71">
                    <c:v>3.1</c:v>
                  </c:pt>
                  <c:pt idx="72">
                    <c:v>3.2</c:v>
                  </c:pt>
                  <c:pt idx="73">
                    <c:v>3.3</c:v>
                  </c:pt>
                  <c:pt idx="74">
                    <c:v>3.4</c:v>
                  </c:pt>
                  <c:pt idx="75">
                    <c:v>3.5</c:v>
                  </c:pt>
                  <c:pt idx="76">
                    <c:v>3.6</c:v>
                  </c:pt>
                  <c:pt idx="77">
                    <c:v>3.7</c:v>
                  </c:pt>
                  <c:pt idx="78">
                    <c:v>3.8</c:v>
                  </c:pt>
                  <c:pt idx="79">
                    <c:v>3.9</c:v>
                  </c:pt>
                  <c:pt idx="80">
                    <c:v>4.0</c:v>
                  </c:pt>
                </c:lvl>
              </c:multiLvlStrCache>
            </c:multiLvlStrRef>
          </c:cat>
          <c:val>
            <c:numRef>
              <c:f>Sheet1!$B$2:$B$82</c:f>
              <c:numCache>
                <c:formatCode>General</c:formatCode>
                <c:ptCount val="81"/>
                <c:pt idx="0">
                  <c:v>0.00033546262790251185</c:v>
                </c:pt>
                <c:pt idx="1">
                  <c:v>0.0004979554215032739</c:v>
                </c:pt>
                <c:pt idx="2">
                  <c:v>0.0007318024188804728</c:v>
                </c:pt>
                <c:pt idx="3">
                  <c:v>0.0010647662366679196</c:v>
                </c:pt>
                <c:pt idx="4">
                  <c:v>0.001533810679324463</c:v>
                </c:pt>
                <c:pt idx="5">
                  <c:v>0.002187491118182885</c:v>
                </c:pt>
                <c:pt idx="6">
                  <c:v>0.0030887154082367718</c:v>
                </c:pt>
                <c:pt idx="7">
                  <c:v>0.0043178400076330815</c:v>
                </c:pt>
                <c:pt idx="8">
                  <c:v>0.0059760228950059375</c:v>
                </c:pt>
                <c:pt idx="9">
                  <c:v>0.008188701014374074</c:v>
                </c:pt>
                <c:pt idx="10">
                  <c:v>0.011108996538242306</c:v>
                </c:pt>
                <c:pt idx="11">
                  <c:v>0.014920786069067842</c:v>
                </c:pt>
                <c:pt idx="12">
                  <c:v>0.019841094744370298</c:v>
                </c:pt>
                <c:pt idx="13">
                  <c:v>0.026121409853918223</c:v>
                </c:pt>
                <c:pt idx="14">
                  <c:v>0.03404745473459933</c:v>
                </c:pt>
                <c:pt idx="15">
                  <c:v>0.04393693362340742</c:v>
                </c:pt>
                <c:pt idx="16">
                  <c:v>0.056134762834133725</c:v>
                </c:pt>
                <c:pt idx="17">
                  <c:v>0.07100535373963701</c:v>
                </c:pt>
                <c:pt idx="18">
                  <c:v>0.0889216174593863</c:v>
                </c:pt>
                <c:pt idx="19">
                  <c:v>0.11025052530448522</c:v>
                </c:pt>
                <c:pt idx="20">
                  <c:v>0.1353352832366127</c:v>
                </c:pt>
                <c:pt idx="21">
                  <c:v>0.1644744565771549</c:v>
                </c:pt>
                <c:pt idx="22">
                  <c:v>0.19789869908361465</c:v>
                </c:pt>
                <c:pt idx="23">
                  <c:v>0.23574607655586358</c:v>
                </c:pt>
                <c:pt idx="24">
                  <c:v>0.2780373004531941</c:v>
                </c:pt>
                <c:pt idx="25">
                  <c:v>0.32465246735834974</c:v>
                </c:pt>
                <c:pt idx="26">
                  <c:v>0.37531109885139957</c:v>
                </c:pt>
                <c:pt idx="27">
                  <c:v>0.4295573582107391</c:v>
                </c:pt>
                <c:pt idx="28">
                  <c:v>0.4867522559599717</c:v>
                </c:pt>
                <c:pt idx="29">
                  <c:v>0.5460744266397094</c:v>
                </c:pt>
                <c:pt idx="30">
                  <c:v>0.6065306597126334</c:v>
                </c:pt>
                <c:pt idx="31">
                  <c:v>0.6669768108584744</c:v>
                </c:pt>
                <c:pt idx="32">
                  <c:v>0.7261490370736909</c:v>
                </c:pt>
                <c:pt idx="33">
                  <c:v>0.7827045382418683</c:v>
                </c:pt>
                <c:pt idx="34">
                  <c:v>0.835270211411272</c:v>
                </c:pt>
                <c:pt idx="35">
                  <c:v>0.8824969025845955</c:v>
                </c:pt>
                <c:pt idx="36">
                  <c:v>0.9231163463866358</c:v>
                </c:pt>
                <c:pt idx="37">
                  <c:v>0.9559974818331</c:v>
                </c:pt>
                <c:pt idx="38">
                  <c:v>0.9801986733067553</c:v>
                </c:pt>
                <c:pt idx="39">
                  <c:v>0.9950124791926823</c:v>
                </c:pt>
                <c:pt idx="40">
                  <c:v>1</c:v>
                </c:pt>
                <c:pt idx="41">
                  <c:v>0.9950124791926823</c:v>
                </c:pt>
                <c:pt idx="42">
                  <c:v>0.9801986733067553</c:v>
                </c:pt>
                <c:pt idx="43">
                  <c:v>0.9559974818331</c:v>
                </c:pt>
                <c:pt idx="44">
                  <c:v>0.9231163463866358</c:v>
                </c:pt>
                <c:pt idx="45">
                  <c:v>0.8824969025845955</c:v>
                </c:pt>
                <c:pt idx="46">
                  <c:v>0.835270211411272</c:v>
                </c:pt>
                <c:pt idx="47">
                  <c:v>0.7827045382418683</c:v>
                </c:pt>
                <c:pt idx="48">
                  <c:v>0.7261490370736909</c:v>
                </c:pt>
                <c:pt idx="49">
                  <c:v>0.6669768108584744</c:v>
                </c:pt>
                <c:pt idx="50">
                  <c:v>0.6065306597126334</c:v>
                </c:pt>
                <c:pt idx="51">
                  <c:v>0.5460744266397094</c:v>
                </c:pt>
                <c:pt idx="52">
                  <c:v>0.4867522559599717</c:v>
                </c:pt>
                <c:pt idx="53">
                  <c:v>0.4295573582107391</c:v>
                </c:pt>
                <c:pt idx="54">
                  <c:v>0.37531109885139957</c:v>
                </c:pt>
                <c:pt idx="55">
                  <c:v>0.32465246735834974</c:v>
                </c:pt>
                <c:pt idx="56">
                  <c:v>0.2780373004531941</c:v>
                </c:pt>
                <c:pt idx="57">
                  <c:v>0.23574607655586358</c:v>
                </c:pt>
                <c:pt idx="58">
                  <c:v>0.19789869908361465</c:v>
                </c:pt>
                <c:pt idx="59">
                  <c:v>0.1644744565771549</c:v>
                </c:pt>
                <c:pt idx="60">
                  <c:v>0.1353352832366127</c:v>
                </c:pt>
                <c:pt idx="61">
                  <c:v>0.11025052530448522</c:v>
                </c:pt>
                <c:pt idx="62">
                  <c:v>0.0889216174593863</c:v>
                </c:pt>
                <c:pt idx="63">
                  <c:v>0.07100535373963701</c:v>
                </c:pt>
                <c:pt idx="64">
                  <c:v>0.056134762834133725</c:v>
                </c:pt>
                <c:pt idx="65">
                  <c:v>0.04393693362340742</c:v>
                </c:pt>
                <c:pt idx="66">
                  <c:v>0.03404745473459933</c:v>
                </c:pt>
                <c:pt idx="67">
                  <c:v>0.026121409853918223</c:v>
                </c:pt>
                <c:pt idx="68">
                  <c:v>0.019841094744370298</c:v>
                </c:pt>
                <c:pt idx="69">
                  <c:v>0.014920786069067842</c:v>
                </c:pt>
                <c:pt idx="70">
                  <c:v>0.011108996538242306</c:v>
                </c:pt>
                <c:pt idx="71">
                  <c:v>0.008188701014374074</c:v>
                </c:pt>
                <c:pt idx="72">
                  <c:v>0.0059760228950059375</c:v>
                </c:pt>
                <c:pt idx="73">
                  <c:v>0.0043178400076330815</c:v>
                </c:pt>
                <c:pt idx="74">
                  <c:v>0.0030887154082367718</c:v>
                </c:pt>
                <c:pt idx="75">
                  <c:v>0.002187491118182885</c:v>
                </c:pt>
                <c:pt idx="76">
                  <c:v>0.001533810679324463</c:v>
                </c:pt>
                <c:pt idx="77">
                  <c:v>0.0010647662366679196</c:v>
                </c:pt>
                <c:pt idx="78">
                  <c:v>0.0007318024188804728</c:v>
                </c:pt>
                <c:pt idx="79">
                  <c:v>0.0004979554215032739</c:v>
                </c:pt>
                <c:pt idx="80">
                  <c:v>0.00033546262790251185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F5F9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Entropy (bits)</c:v>
                </c:pt>
              </c:strCache>
            </c:strRef>
          </c:tx>
          <c:spPr>
            <a:solidFill>
              <a:srgbClr val="F4B94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Fair coin</c:v>
                  </c:pt>
                  <c:pt idx="1">
                    <c:v>70/30 coin</c:v>
                  </c:pt>
                  <c:pt idx="2">
                    <c:v>Certain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0.88</c:v>
                </c:pt>
                <c:pt idx="2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F5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2.png"/><Relationship Id="rId4" Type="http://schemas.openxmlformats.org/officeDocument/2006/relationships/image" Target="../media/image-7-2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9-1.png"/><Relationship Id="rId3" Type="http://schemas.openxmlformats.org/officeDocument/2006/relationships/image" Target="../media/image-9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10-1.png"/><Relationship Id="rId3" Type="http://schemas.openxmlformats.org/officeDocument/2006/relationships/image" Target="../media/image-10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1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8686800" y="-1097280"/>
            <a:ext cx="5486400" cy="5486400"/>
          </a:xfrm>
          <a:prstGeom prst="roundRect">
            <a:avLst>
              <a:gd name="adj" fmla="val 3333"/>
            </a:avLst>
          </a:prstGeom>
          <a:solidFill>
            <a:srgbClr val="2D6A9F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320000">
            <a:off x="9509760" y="2377440"/>
            <a:ext cx="5486400" cy="5486400"/>
          </a:xfrm>
          <a:prstGeom prst="roundRect">
            <a:avLst>
              <a:gd name="adj" fmla="val 3333"/>
            </a:avLst>
          </a:prstGeom>
          <a:solidFill>
            <a:srgbClr val="3AAFA9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868680"/>
            <a:ext cx="914400" cy="91440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5" name="Image 0" descr="ic_dic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0972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2011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TRAINING  ·  DAY 3  ·  PHASE B — MATHEMATICAL FOUNDATIONS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22960" y="2432304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Probability &amp; Statistics</a:t>
            </a:r>
            <a:endParaRPr lang="en-US" sz="5000" dirty="0"/>
          </a:p>
        </p:txBody>
      </p:sp>
      <p:sp>
        <p:nvSpPr>
          <p:cNvPr id="8" name="Text 5"/>
          <p:cNvSpPr/>
          <p:nvPr/>
        </p:nvSpPr>
        <p:spPr>
          <a:xfrm>
            <a:off x="841248" y="3346704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4B94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Part 2 — </a:t>
            </a:r>
            <a:pPr algn="l" indent="0" marL="0">
              <a:buNone/>
            </a:pPr>
            <a:r>
              <a:rPr lang="en-US" sz="2600" dirty="0">
                <a:solidFill>
                  <a:srgbClr val="DCE7F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Probability &amp; Information Theory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868680" y="4114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Axioms · conditional probability · Bayes · distributions · entropy · KL &amp; mutual information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8680" y="61264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E9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U6  ·  Built from Module 1.4 + 2.2  ·  Day 3 portion (finishing U6)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dic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From describing data to reasoning under uncertainty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7276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are:  </a:t>
            </a:r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summarised data we already have. Part 2 is about </a:t>
            </a:r>
            <a:pPr algn="l" indent="0" marL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</a:t>
            </a:r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how likely things are, how to update beliefs with evidence, and how to measure information.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225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0" name="Image 1" descr="ic_dic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176" y="3236976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4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40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58368" y="4498848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axioms &amp; sample space</a:t>
            </a:r>
            <a:endParaRPr lang="en-US" sz="1030" dirty="0"/>
          </a:p>
        </p:txBody>
      </p:sp>
      <p:sp>
        <p:nvSpPr>
          <p:cNvPr id="14" name="Shape 10"/>
          <p:cNvSpPr/>
          <p:nvPr/>
        </p:nvSpPr>
        <p:spPr>
          <a:xfrm>
            <a:off x="2834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511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6" name="Image 2" descr="ic_branch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4176" y="3236976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980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2926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&amp; Bayes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2944368" y="4498848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beliefs with evidence</a:t>
            </a:r>
            <a:endParaRPr lang="en-US" sz="1030" dirty="0"/>
          </a:p>
        </p:txBody>
      </p:sp>
      <p:sp>
        <p:nvSpPr>
          <p:cNvPr id="20" name="Shape 15"/>
          <p:cNvSpPr/>
          <p:nvPr/>
        </p:nvSpPr>
        <p:spPr>
          <a:xfrm>
            <a:off x="5120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797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2" name="Image 3" descr="ic_area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176" y="3236976"/>
            <a:ext cx="402336" cy="40233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266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212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5230368" y="4498848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· Poisson · Bernoulli</a:t>
            </a:r>
            <a:endParaRPr lang="en-US" sz="1030" dirty="0"/>
          </a:p>
        </p:txBody>
      </p:sp>
      <p:sp>
        <p:nvSpPr>
          <p:cNvPr id="26" name="Shape 20"/>
          <p:cNvSpPr/>
          <p:nvPr/>
        </p:nvSpPr>
        <p:spPr>
          <a:xfrm>
            <a:off x="7406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083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8" name="Image 4" descr="ic_wav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176" y="3236976"/>
            <a:ext cx="402336" cy="40233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552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7498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</a:t>
            </a:r>
            <a:endParaRPr lang="en-US" sz="1350" dirty="0"/>
          </a:p>
        </p:txBody>
      </p:sp>
      <p:sp>
        <p:nvSpPr>
          <p:cNvPr id="31" name="Text 24"/>
          <p:cNvSpPr/>
          <p:nvPr/>
        </p:nvSpPr>
        <p:spPr>
          <a:xfrm>
            <a:off x="7516368" y="4498848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uncertainty</a:t>
            </a:r>
            <a:endParaRPr lang="en-US" sz="1030" dirty="0"/>
          </a:p>
        </p:txBody>
      </p:sp>
      <p:sp>
        <p:nvSpPr>
          <p:cNvPr id="32" name="Shape 25"/>
          <p:cNvSpPr/>
          <p:nvPr/>
        </p:nvSpPr>
        <p:spPr>
          <a:xfrm>
            <a:off x="9692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10369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34" name="Image 5" descr="ic_share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52176" y="3236976"/>
            <a:ext cx="402336" cy="402336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9838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Text 28"/>
          <p:cNvSpPr/>
          <p:nvPr/>
        </p:nvSpPr>
        <p:spPr>
          <a:xfrm>
            <a:off x="9784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&amp; MI</a:t>
            </a:r>
            <a:endParaRPr lang="en-US" sz="1350" dirty="0"/>
          </a:p>
        </p:txBody>
      </p:sp>
      <p:sp>
        <p:nvSpPr>
          <p:cNvPr id="37" name="Text 29"/>
          <p:cNvSpPr/>
          <p:nvPr/>
        </p:nvSpPr>
        <p:spPr>
          <a:xfrm>
            <a:off x="9802368" y="4498848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distributions</a:t>
            </a:r>
            <a:endParaRPr lang="en-US" sz="1030" dirty="0"/>
          </a:p>
        </p:txBody>
      </p:sp>
      <p:sp>
        <p:nvSpPr>
          <p:cNvPr id="38" name="Text 30"/>
          <p:cNvSpPr/>
          <p:nvPr/>
        </p:nvSpPr>
        <p:spPr>
          <a:xfrm>
            <a:off x="548640" y="53218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ML cares: models output probabilities, learn by minimising cross-entropy, and pick features by mutual information.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U6 · Probability &amp; Statistics (Part 2)</a:t>
            </a:r>
            <a:endParaRPr lang="en-US" sz="950" dirty="0"/>
          </a:p>
        </p:txBody>
      </p:sp>
      <p:sp>
        <p:nvSpPr>
          <p:cNvPr id="40" name="Text 3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914400"/>
            <a:ext cx="228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dic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UNDER UNCERTAINTY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Probability &amp; Bayes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rules of chance, how to combine events, and how to update what you believe when new evidence arrives.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&amp; Statistics · Part 2 · 01 / 06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dic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RULES OF CHANCE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Probability theory &amp; axioms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space  S  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set of all possible outcomes (e.g. {H, T})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66928" y="242316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1343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 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subset of outcomes you care about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928" y="313639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026664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 P(A)  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number in [0, 1] — how likely event A is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3886200"/>
            <a:ext cx="5440680" cy="960120"/>
          </a:xfrm>
          <a:prstGeom prst="roundRect">
            <a:avLst>
              <a:gd name="adj" fmla="val 7619"/>
            </a:avLst>
          </a:prstGeom>
          <a:solidFill>
            <a:srgbClr val="F2F5F9"/>
          </a:solidFill>
          <a:ln/>
        </p:spPr>
      </p:sp>
      <p:sp>
        <p:nvSpPr>
          <p:cNvPr id="13" name="Text 10"/>
          <p:cNvSpPr/>
          <p:nvPr/>
        </p:nvSpPr>
        <p:spPr>
          <a:xfrm>
            <a:off x="749808" y="398678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axioms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49808" y="4261104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≤ P(A) ≤ 1   ·   P(S) = 1   ·   P(A∪B) = P(A)+P(B) if disjoint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126480" y="1691640"/>
            <a:ext cx="5513832" cy="1417320"/>
          </a:xfrm>
          <a:prstGeom prst="roundRect">
            <a:avLst>
              <a:gd name="adj" fmla="val 5806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263640" y="1783080"/>
            <a:ext cx="52395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P(A) = favourable / total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263640" y="2670048"/>
            <a:ext cx="5239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equally-likely outcomes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126480" y="3246120"/>
            <a:ext cx="5513832" cy="1600200"/>
          </a:xfrm>
          <a:prstGeom prst="roundRect">
            <a:avLst>
              <a:gd name="adj" fmla="val 3429"/>
            </a:avLst>
          </a:prstGeom>
          <a:solidFill>
            <a:srgbClr val="0E1B2E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272784" y="339242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0" name="Shape 17"/>
          <p:cNvSpPr/>
          <p:nvPr/>
        </p:nvSpPr>
        <p:spPr>
          <a:xfrm>
            <a:off x="6419088" y="339242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1" name="Shape 18"/>
          <p:cNvSpPr/>
          <p:nvPr/>
        </p:nvSpPr>
        <p:spPr>
          <a:xfrm>
            <a:off x="6565392" y="339242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2" name="Text 19"/>
          <p:cNvSpPr/>
          <p:nvPr/>
        </p:nvSpPr>
        <p:spPr>
          <a:xfrm>
            <a:off x="6766560" y="3319272"/>
            <a:ext cx="4690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FA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probability.py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327648" y="3630168"/>
            <a:ext cx="511149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rolls = np.random.randint(1, 7, 10000)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p_even = (rolls % 2 == 0).mean()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≈ 0.5  (simulating P(even))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25" name="Shape 22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6" name="Image 1" descr="ic_flas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3 problems on simple, conditional &amp; independent events.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U6 · Probability &amp; Statistics (Part 2)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bran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EVENTS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Conditional probability &amp; independence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5486400" cy="1188720"/>
          </a:xfrm>
          <a:prstGeom prst="roundRect">
            <a:avLst>
              <a:gd name="adj" fmla="val 6923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85800" y="173736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P(A | B) = P(A∩B) / P(B)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85800" y="2395728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probability of A, given that B happened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66928" y="30815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0" name="Text 7"/>
          <p:cNvSpPr/>
          <p:nvPr/>
        </p:nvSpPr>
        <p:spPr>
          <a:xfrm>
            <a:off x="841248" y="297180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narrows the world to cases where B is true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66928" y="3648456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2" name="Text 9"/>
          <p:cNvSpPr/>
          <p:nvPr/>
        </p:nvSpPr>
        <p:spPr>
          <a:xfrm>
            <a:off x="841248" y="353872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P(A|B) = P(A) — B tells you nothing about A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66928" y="421538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4" name="Text 11"/>
          <p:cNvSpPr/>
          <p:nvPr/>
        </p:nvSpPr>
        <p:spPr>
          <a:xfrm>
            <a:off x="841248" y="4105656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probability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P(A) = Σ P(A|Bᵢ)·P(Bᵢ) over all cases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263640" y="1645920"/>
            <a:ext cx="5376672" cy="3017520"/>
          </a:xfrm>
          <a:prstGeom prst="roundRect">
            <a:avLst>
              <a:gd name="adj" fmla="val 2424"/>
            </a:avLst>
          </a:prstGeom>
          <a:solidFill>
            <a:srgbClr val="F2F5F9"/>
          </a:solidFill>
          <a:ln/>
        </p:spPr>
      </p:sp>
      <p:sp>
        <p:nvSpPr>
          <p:cNvPr id="16" name="Text 13"/>
          <p:cNvSpPr/>
          <p:nvPr/>
        </p:nvSpPr>
        <p:spPr>
          <a:xfrm>
            <a:off x="6446520" y="178308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= the overlap, rescaled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949440" y="2286000"/>
            <a:ext cx="2194560" cy="2011680"/>
          </a:xfrm>
          <a:prstGeom prst="ellipse">
            <a:avLst/>
          </a:prstGeom>
          <a:solidFill>
            <a:srgbClr val="2D6A9F">
              <a:alpha val="45000"/>
            </a:srgbClr>
          </a:solidFill>
          <a:ln w="19050">
            <a:solidFill>
              <a:srgbClr val="2D6A9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503920" y="2286000"/>
            <a:ext cx="2194560" cy="2011680"/>
          </a:xfrm>
          <a:prstGeom prst="ellipse">
            <a:avLst/>
          </a:prstGeom>
          <a:solidFill>
            <a:srgbClr val="F4B942">
              <a:alpha val="55000"/>
            </a:srgbClr>
          </a:solidFill>
          <a:ln w="19050">
            <a:solidFill>
              <a:srgbClr val="C9941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178040" y="31089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9921240" y="31089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458200" y="312724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A∩B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23" name="Shape 20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4" name="Image 1" descr="ic_flas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conditional probabilities and test whether two events are independent.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548640" y="5870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Independence is a strong, useful assumption — the 'naïve' in Naïve Bayes.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U6 · Probability &amp; Statistics (Part 2)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calc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UPDATING BELIEFS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Bayes' theorem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11091672" cy="1234440"/>
          </a:xfrm>
          <a:prstGeom prst="roundRect">
            <a:avLst>
              <a:gd name="adj" fmla="val 6667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85800" y="1737360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P(A | B)  =  P(B | A) · P(A)  /  P(B)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85800" y="2441448"/>
            <a:ext cx="10817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your belief in A after observing evidence B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154680"/>
            <a:ext cx="2615184" cy="1417320"/>
          </a:xfrm>
          <a:prstGeom prst="roundRect">
            <a:avLst>
              <a:gd name="adj" fmla="val 5161"/>
            </a:avLst>
          </a:prstGeom>
          <a:solidFill>
            <a:srgbClr val="F2F5F9"/>
          </a:solidFill>
          <a:ln/>
        </p:spPr>
      </p:sp>
      <p:sp>
        <p:nvSpPr>
          <p:cNvPr id="10" name="Shape 7"/>
          <p:cNvSpPr/>
          <p:nvPr/>
        </p:nvSpPr>
        <p:spPr>
          <a:xfrm>
            <a:off x="548640" y="3154680"/>
            <a:ext cx="91440" cy="141732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3300984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6A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P(A|B)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77240" y="3703320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77240" y="4032504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belief after evidence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346704" y="3154680"/>
            <a:ext cx="2615184" cy="1417320"/>
          </a:xfrm>
          <a:prstGeom prst="roundRect">
            <a:avLst>
              <a:gd name="adj" fmla="val 5161"/>
            </a:avLst>
          </a:prstGeom>
          <a:solidFill>
            <a:srgbClr val="F2F5F9"/>
          </a:solidFill>
          <a:ln/>
        </p:spPr>
      </p:sp>
      <p:sp>
        <p:nvSpPr>
          <p:cNvPr id="15" name="Shape 12"/>
          <p:cNvSpPr/>
          <p:nvPr/>
        </p:nvSpPr>
        <p:spPr>
          <a:xfrm>
            <a:off x="3346704" y="3154680"/>
            <a:ext cx="91440" cy="1417320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16" name="Text 13"/>
          <p:cNvSpPr/>
          <p:nvPr/>
        </p:nvSpPr>
        <p:spPr>
          <a:xfrm>
            <a:off x="3575304" y="3300984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AAFA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P(B|A)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3575304" y="3703320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3575304" y="4032504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given the cause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144768" y="3154680"/>
            <a:ext cx="2615184" cy="1417320"/>
          </a:xfrm>
          <a:prstGeom prst="roundRect">
            <a:avLst>
              <a:gd name="adj" fmla="val 5161"/>
            </a:avLst>
          </a:prstGeom>
          <a:solidFill>
            <a:srgbClr val="F2F5F9"/>
          </a:solidFill>
          <a:ln/>
        </p:spPr>
      </p:sp>
      <p:sp>
        <p:nvSpPr>
          <p:cNvPr id="20" name="Shape 17"/>
          <p:cNvSpPr/>
          <p:nvPr/>
        </p:nvSpPr>
        <p:spPr>
          <a:xfrm>
            <a:off x="6144768" y="3154680"/>
            <a:ext cx="91440" cy="1417320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21" name="Text 18"/>
          <p:cNvSpPr/>
          <p:nvPr/>
        </p:nvSpPr>
        <p:spPr>
          <a:xfrm>
            <a:off x="6373368" y="3300984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6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P(A)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6373368" y="3703320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373368" y="4032504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belief before evidence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8942832" y="3154680"/>
            <a:ext cx="2615184" cy="1417320"/>
          </a:xfrm>
          <a:prstGeom prst="roundRect">
            <a:avLst>
              <a:gd name="adj" fmla="val 5161"/>
            </a:avLst>
          </a:prstGeom>
          <a:solidFill>
            <a:srgbClr val="F2F5F9"/>
          </a:solidFill>
          <a:ln/>
        </p:spPr>
      </p:sp>
      <p:sp>
        <p:nvSpPr>
          <p:cNvPr id="25" name="Shape 22"/>
          <p:cNvSpPr/>
          <p:nvPr/>
        </p:nvSpPr>
        <p:spPr>
          <a:xfrm>
            <a:off x="8942832" y="3154680"/>
            <a:ext cx="91440" cy="1417320"/>
          </a:xfrm>
          <a:prstGeom prst="rect">
            <a:avLst/>
          </a:prstGeom>
          <a:solidFill>
            <a:srgbClr val="16263F"/>
          </a:solidFill>
          <a:ln/>
        </p:spPr>
      </p:sp>
      <p:sp>
        <p:nvSpPr>
          <p:cNvPr id="26" name="Text 23"/>
          <p:cNvSpPr/>
          <p:nvPr/>
        </p:nvSpPr>
        <p:spPr>
          <a:xfrm>
            <a:off x="9171432" y="3300984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6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P(B)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9171432" y="3703320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9171432" y="4032504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chance of B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48640" y="4846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 turns 'how likely is the evidence?' into 'how likely is the cause, given the evidence?'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548640" y="5303520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31" name="Shape 28"/>
          <p:cNvSpPr/>
          <p:nvPr/>
        </p:nvSpPr>
        <p:spPr>
          <a:xfrm>
            <a:off x="694944" y="5422392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32" name="Image 1" descr="ic_flas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504688"/>
            <a:ext cx="164592" cy="164592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1115568" y="5303520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a real-world Bayes scenario with a calculator.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U6 · Probability &amp; Statistics (Part 2)</a:t>
            </a:r>
            <a:endParaRPr lang="en-US" sz="950" dirty="0"/>
          </a:p>
        </p:txBody>
      </p:sp>
      <p:sp>
        <p:nvSpPr>
          <p:cNvPr id="35" name="Text 31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me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INTUITION FAILS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Bayes in action: the medical test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727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  </a:t>
            </a:r>
            <a:pPr algn="l" indent="0" marL="0"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disease affects 1% of people. A test is 99% accurate. You test positive — what's the chance you're actually sick?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514600"/>
            <a:ext cx="2615184" cy="1371600"/>
          </a:xfrm>
          <a:prstGeom prst="roundRect">
            <a:avLst>
              <a:gd name="adj" fmla="val 5333"/>
            </a:avLst>
          </a:prstGeom>
          <a:solidFill>
            <a:srgbClr val="F2F5F9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2660904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D6A9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1%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731520" y="3172968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the disease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31520" y="3465576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of 10,000 people</a:t>
            </a:r>
            <a:endParaRPr lang="en-US" sz="1000" dirty="0"/>
          </a:p>
        </p:txBody>
      </p:sp>
      <p:pic>
        <p:nvPicPr>
          <p:cNvPr id="12" name="Image 1" descr="ic_arrow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2968" y="3099816"/>
            <a:ext cx="164592" cy="16459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346704" y="2514600"/>
            <a:ext cx="2615184" cy="1371600"/>
          </a:xfrm>
          <a:prstGeom prst="roundRect">
            <a:avLst>
              <a:gd name="adj" fmla="val 5333"/>
            </a:avLst>
          </a:prstGeom>
          <a:solidFill>
            <a:srgbClr val="F2F5F9"/>
          </a:solidFill>
          <a:ln/>
        </p:spPr>
      </p:sp>
      <p:sp>
        <p:nvSpPr>
          <p:cNvPr id="14" name="Text 10"/>
          <p:cNvSpPr/>
          <p:nvPr/>
        </p:nvSpPr>
        <p:spPr>
          <a:xfrm>
            <a:off x="3529584" y="2660904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AAFA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99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3529584" y="3172968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positives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3529584" y="3465576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 of the 100 sick people</a:t>
            </a:r>
            <a:endParaRPr lang="en-US" sz="1000" dirty="0"/>
          </a:p>
        </p:txBody>
      </p:sp>
      <p:pic>
        <p:nvPicPr>
          <p:cNvPr id="17" name="Image 2" descr="ic_arrow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1032" y="3099816"/>
            <a:ext cx="164592" cy="164592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6144768" y="2514600"/>
            <a:ext cx="2615184" cy="1371600"/>
          </a:xfrm>
          <a:prstGeom prst="roundRect">
            <a:avLst>
              <a:gd name="adj" fmla="val 5333"/>
            </a:avLst>
          </a:prstGeom>
          <a:solidFill>
            <a:srgbClr val="F2F5F9"/>
          </a:solidFill>
          <a:ln/>
        </p:spPr>
      </p:sp>
      <p:sp>
        <p:nvSpPr>
          <p:cNvPr id="19" name="Text 14"/>
          <p:cNvSpPr/>
          <p:nvPr/>
        </p:nvSpPr>
        <p:spPr>
          <a:xfrm>
            <a:off x="6327648" y="2660904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A6B1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~99</a:t>
            </a:r>
            <a:endParaRPr lang="en-US" sz="2600" dirty="0"/>
          </a:p>
        </p:txBody>
      </p:sp>
      <p:sp>
        <p:nvSpPr>
          <p:cNvPr id="20" name="Text 15"/>
          <p:cNvSpPr/>
          <p:nvPr/>
        </p:nvSpPr>
        <p:spPr>
          <a:xfrm>
            <a:off x="6327648" y="3172968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6327648" y="3465576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 of 9,900 healthy people</a:t>
            </a:r>
            <a:endParaRPr lang="en-US" sz="1000" dirty="0"/>
          </a:p>
        </p:txBody>
      </p:sp>
      <p:pic>
        <p:nvPicPr>
          <p:cNvPr id="22" name="Image 3" descr="ic_arrow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9096" y="3099816"/>
            <a:ext cx="164592" cy="164592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8942832" y="2514600"/>
            <a:ext cx="2615184" cy="1371600"/>
          </a:xfrm>
          <a:prstGeom prst="roundRect">
            <a:avLst>
              <a:gd name="adj" fmla="val 5333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4" name="Text 18"/>
          <p:cNvSpPr/>
          <p:nvPr/>
        </p:nvSpPr>
        <p:spPr>
          <a:xfrm>
            <a:off x="9125712" y="2660904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4B94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~50%</a:t>
            </a:r>
            <a:endParaRPr lang="en-US" sz="2600" dirty="0"/>
          </a:p>
        </p:txBody>
      </p:sp>
      <p:sp>
        <p:nvSpPr>
          <p:cNvPr id="25" name="Text 19"/>
          <p:cNvSpPr/>
          <p:nvPr/>
        </p:nvSpPr>
        <p:spPr>
          <a:xfrm>
            <a:off x="9125712" y="3172968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sick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9125712" y="3465576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 / (99 + 99) ≈ 50%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548640" y="4160520"/>
            <a:ext cx="11091672" cy="713232"/>
          </a:xfrm>
          <a:prstGeom prst="roundRect">
            <a:avLst>
              <a:gd name="adj" fmla="val 10256"/>
            </a:avLst>
          </a:prstGeom>
          <a:solidFill>
            <a:srgbClr val="FBF1D8"/>
          </a:solidFill>
          <a:ln/>
        </p:spPr>
      </p:sp>
      <p:sp>
        <p:nvSpPr>
          <p:cNvPr id="28" name="Text 22"/>
          <p:cNvSpPr/>
          <p:nvPr/>
        </p:nvSpPr>
        <p:spPr>
          <a:xfrm>
            <a:off x="822960" y="4160520"/>
            <a:ext cx="10515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surprise:  </a:t>
            </a:r>
            <a:pPr algn="l" indent="0" marL="0">
              <a:buNone/>
            </a:pPr>
            <a:r>
              <a:rPr lang="en-US" sz="13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99%-accurate test gives only ~50% certainty — because the disease is rare. Base rates matter enormously.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30" name="Shape 24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31" name="Image 4" descr="ic_flask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the spam-classifier version of this Bayes calculation.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U6 · Probability &amp; Statistics (Part 2)</a:t>
            </a:r>
            <a:endParaRPr lang="en-US" sz="950" dirty="0"/>
          </a:p>
        </p:txBody>
      </p:sp>
      <p:sp>
        <p:nvSpPr>
          <p:cNvPr id="34" name="Text 27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914400"/>
            <a:ext cx="228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area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 &amp; INFORMATION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Distributions &amp; information theory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randomness is shaped, and how we measure information, surprise and the distance between distributions.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&amp; Statistics · Part 2 · 02 / 06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area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SHAPES OF RANDOMNESS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Probability distributions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Bernoulli  </a:t>
            </a:r>
            <a:pPr algn="l"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single yes/no trial — p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41248" y="194767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 </a:t>
            </a:r>
            <a:pPr algn="l" indent="0" marL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coin flip, click / no-click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66928" y="248716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0" name="Text 7"/>
          <p:cNvSpPr/>
          <p:nvPr/>
        </p:nvSpPr>
        <p:spPr>
          <a:xfrm>
            <a:off x="841248" y="237744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Poisson  </a:t>
            </a:r>
            <a:pPr algn="l"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counts of events in an interval — λ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41248" y="272491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 </a:t>
            </a:r>
            <a:pPr algn="l" indent="0" marL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per hour, typos per page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66928" y="326440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15468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(Normal)  </a:t>
            </a:r>
            <a:pPr algn="l"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bell curve — μ, σ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41248" y="350215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 </a:t>
            </a:r>
            <a:pPr algn="l" indent="0" marL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heights, measurement error, noise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355080" y="1572768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Gaussian — the most important curve in ML</a:t>
            </a:r>
            <a:endParaRPr lang="en-US" sz="125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6217920" y="1920240"/>
          <a:ext cx="544068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Shape 13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18" name="Shape 14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19" name="Image 1" descr="ic_flask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&amp; plot Bernoulli, Poisson and Gaussian; observe how parameters change them.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548640" y="5870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Gaussian appears everywhere thanks to the Central Limit Theorem — sums of many effects look normal.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U6 · Probability &amp; Statistics (Part 2)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wav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UNCERTAINTY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Entropy &amp; information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5486400" cy="1188720"/>
          </a:xfrm>
          <a:prstGeom prst="roundRect">
            <a:avLst>
              <a:gd name="adj" fmla="val 6923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85800" y="173736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H(X) = − Σ p(x) · log p(x)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85800" y="2395728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'surprise' — higher = more uncertain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66928" y="30815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0" name="Text 7"/>
          <p:cNvSpPr/>
          <p:nvPr/>
        </p:nvSpPr>
        <p:spPr>
          <a:xfrm>
            <a:off x="841248" y="297180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 H  </a:t>
            </a:r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how unpredictable a distribution is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66928" y="35387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2" name="Text 9"/>
          <p:cNvSpPr/>
          <p:nvPr/>
        </p:nvSpPr>
        <p:spPr>
          <a:xfrm>
            <a:off x="841248" y="342900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entropy  </a:t>
            </a:r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skewed / certain (a biased coin)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66928" y="3995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4" name="Text 11"/>
          <p:cNvSpPr/>
          <p:nvPr/>
        </p:nvSpPr>
        <p:spPr>
          <a:xfrm>
            <a:off x="841248" y="388620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entropy  </a:t>
            </a:r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uniform / uncertain (a fair die)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66928" y="44531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6" name="Text 13"/>
          <p:cNvSpPr/>
          <p:nvPr/>
        </p:nvSpPr>
        <p:spPr>
          <a:xfrm>
            <a:off x="841248" y="434340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Cross-entropy  </a:t>
            </a:r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loss most classifiers minimise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355080" y="1572768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fair coin is more uncertain than a biased one</a:t>
            </a:r>
            <a:endParaRPr lang="en-US" sz="125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6217920" y="1920240"/>
          <a:ext cx="54406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Shape 15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20" name="Shape 16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1" name="Image 1" descr="ic_flask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the entropy of 3 datasets and interpret their information content.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U6 · Probability &amp; Statistics (Part 2)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har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DISTRIBUTIONS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KL divergence &amp; mutual information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64208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749808" y="1938528"/>
            <a:ext cx="603504" cy="603504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neq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2093976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184708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 divergence  D(P‖Q)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508760" y="219456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far one distribution is from another — the 'extra surprise' of using Q to model P. Not symmetric.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3236976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2F5F9"/>
          </a:solidFill>
          <a:ln/>
        </p:spPr>
      </p:sp>
      <p:sp>
        <p:nvSpPr>
          <p:cNvPr id="12" name="Shape 8"/>
          <p:cNvSpPr/>
          <p:nvPr/>
        </p:nvSpPr>
        <p:spPr>
          <a:xfrm>
            <a:off x="749808" y="3511296"/>
            <a:ext cx="603504" cy="603504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3" name="Image 2" descr="ic_shar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3666744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341985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Mutual information  I(X;Y)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508760" y="3767328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knowing X reduces uncertainty about Y — used to rank feature importance.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263640" y="1664208"/>
            <a:ext cx="5376672" cy="2990088"/>
          </a:xfrm>
          <a:prstGeom prst="roundRect">
            <a:avLst>
              <a:gd name="adj" fmla="val 1835"/>
            </a:avLst>
          </a:prstGeom>
          <a:solidFill>
            <a:srgbClr val="0E1B2E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409944" y="1810512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8" name="Shape 13"/>
          <p:cNvSpPr/>
          <p:nvPr/>
        </p:nvSpPr>
        <p:spPr>
          <a:xfrm>
            <a:off x="6556248" y="181051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9" name="Shape 14"/>
          <p:cNvSpPr/>
          <p:nvPr/>
        </p:nvSpPr>
        <p:spPr>
          <a:xfrm>
            <a:off x="6702552" y="1810512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0" name="Text 15"/>
          <p:cNvSpPr/>
          <p:nvPr/>
        </p:nvSpPr>
        <p:spPr>
          <a:xfrm>
            <a:off x="6903720" y="1737360"/>
            <a:ext cx="4553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FA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info_theory.py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6464808" y="2048256"/>
            <a:ext cx="4974336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scipy.stats import entropy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 np.array([0.5, 0.5])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= np.array([0.9, 0.1])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entropy(p)        # H(P) in nats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entropy(p, q)     # KL divergence D(P||Q)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sklearn.feature_selection \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import mutual_info_classif  # feature MI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23" name="Shape 18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4" name="Image 3" descr="ic_flask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KL + mutual information; interpret which features carry the most info.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U6 · Probability &amp; Statistics (Part 2)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bul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Recap, homework &amp; what comes next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3657600" cy="3383280"/>
          </a:xfrm>
          <a:prstGeom prst="roundRect">
            <a:avLst>
              <a:gd name="adj" fmla="val 2162"/>
            </a:avLst>
          </a:prstGeom>
          <a:solidFill>
            <a:srgbClr val="F2F5F9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181051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49808" y="2212848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axioms bound chance to [0,1]</a:t>
            </a:r>
            <a:endParaRPr lang="en-US" sz="125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probability narrows the world</a:t>
            </a:r>
            <a:endParaRPr lang="en-US" sz="125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 updates beliefs with evidence</a:t>
            </a:r>
            <a:endParaRPr lang="en-US" sz="125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/ Poisson / Bernoulli recur in ML</a:t>
            </a:r>
            <a:endParaRPr lang="en-US" sz="125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Entropy, KL &amp; MI measure information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70832" y="1645920"/>
            <a:ext cx="3657600" cy="3383280"/>
          </a:xfrm>
          <a:prstGeom prst="roundRect">
            <a:avLst>
              <a:gd name="adj" fmla="val 2162"/>
            </a:avLst>
          </a:prstGeom>
          <a:solidFill>
            <a:srgbClr val="FBF1D8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0" y="181051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20" kern="0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/ SELF-PACED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0" y="2212848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3 conditional / independent-event problems</a:t>
            </a:r>
            <a:endParaRPr lang="en-US" sz="120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a Bayes scenario (medical / spam)</a:t>
            </a:r>
            <a:endParaRPr lang="en-US" sz="120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&amp; plot 3 distributions</a:t>
            </a:r>
            <a:endParaRPr lang="en-US" sz="120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entropy of 3 datasets</a:t>
            </a:r>
            <a:endParaRPr lang="en-US" sz="120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KL + MI and rank features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193024" y="1645920"/>
            <a:ext cx="3447288" cy="3383280"/>
          </a:xfrm>
          <a:prstGeom prst="roundRect">
            <a:avLst>
              <a:gd name="adj" fmla="val 21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394192" y="181051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 — PHASE C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394192" y="2286000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5" name="Text 12"/>
          <p:cNvSpPr/>
          <p:nvPr/>
        </p:nvSpPr>
        <p:spPr>
          <a:xfrm>
            <a:off x="8394192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U7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979408" y="2212848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Lifecycle &amp; data sources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394192" y="3182112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8" name="Text 15"/>
          <p:cNvSpPr/>
          <p:nvPr/>
        </p:nvSpPr>
        <p:spPr>
          <a:xfrm>
            <a:off x="8394192" y="3182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979408" y="31089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C: Data Engineering &amp; Preparation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8394192" y="4078224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21" name="Text 18"/>
          <p:cNvSpPr/>
          <p:nvPr/>
        </p:nvSpPr>
        <p:spPr>
          <a:xfrm>
            <a:off x="8394192" y="4078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979408" y="4005072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Maths foundations (Phase B) complete!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48640" y="5285232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F2F5F9"/>
          </a:solidFill>
          <a:ln/>
        </p:spPr>
      </p:sp>
      <p:sp>
        <p:nvSpPr>
          <p:cNvPr id="24" name="Shape 21"/>
          <p:cNvSpPr/>
          <p:nvPr/>
        </p:nvSpPr>
        <p:spPr>
          <a:xfrm>
            <a:off x="777240" y="545896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5" name="Image 1" descr="ic_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5559552"/>
            <a:ext cx="310896" cy="310896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463040" y="5285232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ML:  </a:t>
            </a:r>
            <a:pPr algn="l"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classifiers output probabilities, train by minimising cross-entropy, and select features by mutual information — probability is the language of learning.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U6 · Probability &amp; Statistics (Part 2)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U6 — Probability &amp; Statistics (Part 2)</dc:title>
  <dc:subject>PptxGenJS Presentation</dc:subject>
  <dc:creator>AI/ML Training</dc:creator>
  <cp:lastModifiedBy>AI/ML Training</cp:lastModifiedBy>
  <cp:revision>1</cp:revision>
  <dcterms:created xsi:type="dcterms:W3CDTF">2026-06-10T13:32:41Z</dcterms:created>
  <dcterms:modified xsi:type="dcterms:W3CDTF">2026-06-10T13:32:41Z</dcterms:modified>
</cp:coreProperties>
</file>